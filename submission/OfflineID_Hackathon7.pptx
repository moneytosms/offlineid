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73152" cy="310896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353312"/>
            <a:ext cx="105156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22C55E"/>
                </a:solidFill>
                <a:latin typeface="Consolas"/>
              </a:rPr>
              <a:t>BIOMETRIC FIELD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972800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dirty="0">
                <a:solidFill>
                  <a:srgbClr val="22C55E"/>
                </a:solidFill>
                <a:latin typeface="Segoe UI"/>
              </a:rPr>
              <a:t>OFFLINE·ID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154680"/>
            <a:ext cx="2194560" cy="54864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058400" cy="10972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dirty="0">
                <a:solidFill>
                  <a:srgbClr val="22C55E"/>
                </a:solidFill>
                <a:latin typeface="Segoe UI"/>
              </a:rPr>
              <a:t>Secure offline facial recognition &amp; liveness detection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dirty="0">
                <a:solidFill>
                  <a:srgbClr val="22C55E"/>
                </a:solidFill>
                <a:latin typeface="Segoe UI"/>
              </a:rPr>
              <a:t>for field personnel in zero-network zones.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2194560" cy="402336"/>
          </a:xfrm>
          <a:prstGeom prst="roundRect">
            <a:avLst/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22C55E"/>
                </a:solidFill>
                <a:latin typeface="Consolas"/>
              </a:rPr>
              <a:t>100% ON-DEVICE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4754880"/>
            <a:ext cx="1920240" cy="402336"/>
          </a:xfrm>
          <a:prstGeom prst="roundRect">
            <a:avLst/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754880"/>
            <a:ext cx="2011680" cy="402336"/>
          </a:xfrm>
          <a:prstGeom prst="roundRect">
            <a:avLst/>
          </a:prstGeom>
          <a:noFill/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9.1 MB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754880"/>
            <a:ext cx="1828800" cy="402336"/>
          </a:xfrm>
          <a:prstGeom prst="roundRect">
            <a:avLst/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22C55E"/>
                </a:solidFill>
                <a:latin typeface="Consolas"/>
              </a:rPr>
              <a:t>OPEN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806440"/>
            <a:ext cx="292608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2C55E"/>
                </a:solidFill>
                <a:latin typeface="Segoe UI"/>
              </a:rPr>
              <a:t>NHAI Hackathon 7.0</a:t>
            </a:r>
            <a:r>
              <a:rPr sz="1300" b="0">
                <a:solidFill>
                  <a:srgbClr val="22C55E"/>
                </a:solidFill>
                <a:latin typeface="Segoe UI"/>
              </a:rPr>
              <a:t>   ·   Datalake 3.0 integration module   ·   v1.1.0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Authenticating field staff where there is no network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Zero-network sites.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NHAI personnel work in remote zones; cloud face APIs simply fail offline.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Fraud risk.</a:t>
            </a:r>
            <a:r>
              <a:rPr sz="1600" b="0">
                <a:solidFill>
                  <a:srgbClr val="22C55E"/>
                </a:solidFill>
                <a:latin typeface="Segoe UI"/>
              </a:rPr>
              <a:t>  Photos and phone-screen replays let people fake attendance.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Constrained hardware.</a:t>
            </a:r>
            <a:r>
              <a:rPr sz="1600" b="0">
                <a:solidFill>
                  <a:srgbClr val="22C55E"/>
                </a:solidFill>
                <a:latin typeface="Segoe UI"/>
              </a:rPr>
              <a:t>  Must run on mid-range phones: 3 GB RAM, Android 8+/iOS 12+, no GPU.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Hard targets.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&lt; 1 second, &gt; 95% accuracy, diverse Indian faces, harsh outdoor 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Must fit Datalake 3.0.</a:t>
            </a:r>
            <a:r>
              <a:rPr sz="1600" b="0">
                <a:solidFill>
                  <a:srgbClr val="22C55E"/>
                </a:solidFill>
                <a:latin typeface="Segoe UI"/>
              </a:rPr>
              <a:t>  Ship as a React Native module, not a separate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93208"/>
            <a:ext cx="10515600" cy="8686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93208"/>
            <a:ext cx="73152" cy="8686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2C55E"/>
                </a:solidFill>
                <a:latin typeface="Segoe UI"/>
              </a:rPr>
              <a:t>“</a:t>
            </a:r>
            <a:r>
              <a:rPr sz="1450" b="0">
                <a:solidFill>
                  <a:srgbClr val="22C55E"/>
                </a:solidFill>
                <a:latin typeface="Segoe UI"/>
              </a:rPr>
              <a:t>How do we authenticate field personnel securely, fully offline, on standard phones, and integrate it into a React Native app on Android and iOS?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A fully on-device authentication 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1005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22C55E"/>
                </a:solidFill>
                <a:latin typeface="Segoe UI"/>
              </a:rPr>
              <a:t>Detect → prove liveness → recognise in </a:t>
            </a:r>
            <a:r>
              <a:rPr sz="1800" b="1">
                <a:solidFill>
                  <a:srgbClr val="22C55E"/>
                </a:solidFill>
                <a:latin typeface="Consolas"/>
              </a:rPr>
              <a:t>~51 ms</a:t>
            </a:r>
            <a:r>
              <a:rPr sz="1800" b="0">
                <a:solidFill>
                  <a:srgbClr val="22C55E"/>
                </a:solidFill>
                <a:latin typeface="Segoe UI"/>
              </a:rPr>
              <a:t>, with no internet, then </a:t>
            </a:r>
            <a:r>
              <a:rPr sz="1800" b="1">
                <a:solidFill>
                  <a:srgbClr val="22C55E"/>
                </a:solidFill>
                <a:latin typeface="Segoe UI"/>
              </a:rPr>
              <a:t>sync-and-purge</a:t>
            </a:r>
            <a:r>
              <a:rPr sz="1800" b="0">
                <a:solidFill>
                  <a:srgbClr val="22C55E"/>
                </a:solidFill>
                <a:latin typeface="Segoe UI"/>
              </a:rPr>
              <a:t> to AWS when back online.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72968"/>
            <a:ext cx="2542032" cy="23317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24128" y="3383280"/>
            <a:ext cx="274320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529584"/>
            <a:ext cx="2176272" cy="1828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22C55E"/>
                </a:solidFill>
                <a:latin typeface="Consolas"/>
              </a:rPr>
              <a:t>OFFLINE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Segoe UI"/>
              </a:rPr>
              <a:t>Recognition + liveness run
entirely on the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3" y="3172968"/>
            <a:ext cx="2542032" cy="23317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85031" y="3383280"/>
            <a:ext cx="274320" cy="640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85031" y="3529584"/>
            <a:ext cx="2176272" cy="1828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Consolas"/>
              </a:rPr>
              <a:t>ANTI-SPOOF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Segoe UI"/>
              </a:rPr>
              <a:t>Passive FASNet + active
gesture defeat photos.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172968"/>
            <a:ext cx="2542032" cy="23317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45936" y="3383280"/>
            <a:ext cx="274320" cy="640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5936" y="3529584"/>
            <a:ext cx="2176272" cy="1828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  <a:latin typeface="Consolas"/>
              </a:rPr>
              <a:t>ENCRYPTED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Segoe UI"/>
              </a:rPr>
              <a:t>AES-256-GCM faceprints;
no raw images stored.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5672" y="3172968"/>
            <a:ext cx="2542032" cy="23317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74320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529584"/>
            <a:ext cx="2176272" cy="1828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22C55E"/>
                </a:solidFill>
                <a:latin typeface="Consolas"/>
              </a:rPr>
              <a:t>SYNC &amp; PURGE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Segoe UI"/>
              </a:rPr>
              <a:t>Presigned S3 upload, then
local records deleted.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THE AI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Camera still to attendance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65376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1975104"/>
            <a:ext cx="64008" cy="2926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1956816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1 · Detect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SCRFD-500M → box + 5 landmarks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395728"/>
            <a:ext cx="292608" cy="237744"/>
          </a:xfrm>
          <a:prstGeom prst="downArrow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601468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711196"/>
            <a:ext cx="64008" cy="2926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0704" y="2692908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2 · Passive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FASNet ×2 (2.7 / 4.0) anti-spoof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131820"/>
            <a:ext cx="292608" cy="237744"/>
          </a:xfrm>
          <a:prstGeom prst="downArrow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337560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64008" cy="2926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0704" y="3429000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3 · Active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ML Kit gesture: blink / smile / turn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3867912"/>
            <a:ext cx="292608" cy="237744"/>
          </a:xfrm>
          <a:prstGeom prst="downArrow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073652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183380"/>
            <a:ext cx="64008" cy="2926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" y="4165091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4 · Recognise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ArcFace align → MobileFaceNet 512-d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4604004"/>
            <a:ext cx="292608" cy="237744"/>
          </a:xfrm>
          <a:prstGeom prst="downArrow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4809744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4919472"/>
            <a:ext cx="64008" cy="2926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0704" y="4901183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5 · Match &amp; 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cosine vs enrolled → encrypted row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34456" y="5340096"/>
            <a:ext cx="292608" cy="237744"/>
          </a:xfrm>
          <a:prstGeom prst="downArrow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2960" y="5545836"/>
            <a:ext cx="10515600" cy="512064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960" y="5655564"/>
            <a:ext cx="64008" cy="2926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60704" y="5637275"/>
            <a:ext cx="10094976" cy="32918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6 · Sync &amp; purge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reconnect → S3 PUT → local 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INNOVATION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Edge AI that earns its footprint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84248"/>
            <a:ext cx="3429000" cy="32461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51560" y="2231136"/>
            <a:ext cx="457200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377440"/>
            <a:ext cx="2971800" cy="11887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2C55E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TOTAL MODEL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21608"/>
            <a:ext cx="297180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C55E"/>
                </a:solidFill>
                <a:latin typeface="Segoe UI"/>
              </a:rPr>
              <a:t>INT8-quantised MobileFaceNet keeps the whole
bundle under half the 20 MB budget.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6552" y="1984248"/>
            <a:ext cx="3429000" cy="32461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45152" y="2231136"/>
            <a:ext cx="457200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45152" y="2377440"/>
            <a:ext cx="2971800" cy="11887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2C55E"/>
                </a:solidFill>
                <a:latin typeface="Segoe UI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OF LIVENESS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721608"/>
            <a:ext cx="297180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C55E"/>
                </a:solidFill>
                <a:latin typeface="Segoe UI"/>
              </a:rPr>
              <a:t>Passive FASNet anti-spoof PLUS a randomised
active gesture sequence.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1984248"/>
            <a:ext cx="3429000" cy="32461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38744" y="2231136"/>
            <a:ext cx="457200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38744" y="2377440"/>
            <a:ext cx="2971800" cy="11887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2C55E"/>
                </a:solidFill>
                <a:latin typeface="Segoe UI"/>
              </a:rPr>
              <a:t>0 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CALLS FOR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3721608"/>
            <a:ext cx="297180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C55E"/>
                </a:solidFill>
                <a:latin typeface="Segoe UI"/>
              </a:rPr>
              <a:t>Detection, liveness and matching all run
on-device; works in airplane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MODEL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Four open-source ONNX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1956816"/>
          <a:ext cx="105156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Detect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SCRFD-500M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face box + 5 landmarks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Recognise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MobileFaceNet INT8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512-d ArcFace embedding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Liveness A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MiniFASNet V2 (2.7)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Liveness 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MiniFASNet V1SE (4.0)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ONNX Runtime Mobile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~3.5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CPU / XNNPACK / NNAPI / CoreML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550408"/>
            <a:ext cx="1051560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All MIT-licensed. </a:t>
            </a:r>
            <a:r>
              <a:rPr sz="1400" b="0">
                <a:solidFill>
                  <a:srgbClr val="22C55E"/>
                </a:solidFill>
                <a:latin typeface="Segoe UI"/>
              </a:rPr>
              <a:t>Models 9.1 MB + ONNX Runtime ≈ 12.6 MB added to the Datalake APK, inside the 20 MB brief budget.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LIVENESS · ANTI-SPOOF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Two independent layers, both must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2461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PASSIVE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07208"/>
            <a:ext cx="475488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FASNet two-scale crops (2.7 + 4.0)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Softmax P(real) &gt; 0.6 to pass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Blocks printed photos, screens, 2D masks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Runs in a few milliseconds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24612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Consolas"/>
              </a:rPr>
              <a:t>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07208"/>
            <a:ext cx="475488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Randomised gesture in a 5 s window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Blink (EAR) · turn (yaw ±20°) · smile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On-device ML Kit, no network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Ordered sequence defeats replays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58968"/>
            <a:ext cx="10515600" cy="566928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458968"/>
            <a:ext cx="1005840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GATE   </a:t>
            </a:r>
            <a:r>
              <a:rPr sz="1400" b="0">
                <a:solidFill>
                  <a:srgbClr val="22C55E"/>
                </a:solidFill>
                <a:latin typeface="Segoe UI"/>
              </a:rPr>
              <a:t>recognition only runs after both liveness layers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Privacy-first by construction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Encrypted at rest.</a:t>
            </a:r>
            <a:r>
              <a:rPr sz="1600" b="0">
                <a:solidFill>
                  <a:srgbClr val="22C55E"/>
                </a:solidFill>
                <a:latin typeface="Segoe UI"/>
              </a:rPr>
              <a:t>  Faceprints sealed with AES-256-GCM; key in the Android Keystore.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No raw images.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Only 512-d embeddings are stored, never photos of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No cloud credentials.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Sync uses short-TTL presigned S3 URLs; device holds no AWS keys.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Abuse resistant.</a:t>
            </a:r>
            <a:r>
              <a:rPr sz="1600" b="0">
                <a:solidFill>
                  <a:srgbClr val="22C55E"/>
                </a:solidFill>
                <a:latin typeface="Segoe UI"/>
              </a:rPr>
              <a:t>  30-second lockout after repeated failed attempts.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Purge on sync.</a:t>
            </a:r>
            <a:r>
              <a:rPr sz="1600" b="0">
                <a:solidFill>
                  <a:srgbClr val="22C55E"/>
                </a:solidFill>
                <a:latin typeface="Segoe UI"/>
              </a:rPr>
              <a:t>  Attendance rows are deleted locally once the upload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09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OFFLINE-FIRST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Works fully offline, reconciles when online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1546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C55E"/>
                </a:solidFill>
                <a:latin typeface="Consolas"/>
              </a:rPr>
              <a:t>ON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475488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SQLite: face_embeddings (encrypted, permanent)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SQLite: attendance_log (ephemeral queue)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Enrol · authenticate · log, all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1546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SYNC &amp; PURGE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475488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NetInfo detects reconnect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Batch ≤ 10 → presigned S3 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On 200 → delete local row (purge)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▸  </a:t>
            </a:r>
            <a:r>
              <a:rPr sz="1350" b="0">
                <a:solidFill>
                  <a:srgbClr val="22C55E"/>
                </a:solidFill>
                <a:latin typeface="Segoe UI"/>
              </a:rPr>
              <a:t>Exponential backoff; 403 → refresh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C55E"/>
                </a:solidFill>
                <a:latin typeface="Segoe UI"/>
              </a:rPr>
              <a:t>Devices stay lean; the server becomes the single source of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PERFORMANCE ·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Measured against every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38528"/>
            <a:ext cx="2542032" cy="17830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2103120"/>
            <a:ext cx="2176272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51 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2C55E"/>
                </a:solidFill>
                <a:latin typeface="Consolas"/>
              </a:rPr>
              <a:t>HOST-CPU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C55E"/>
                </a:solidFill>
                <a:latin typeface="Consolas"/>
              </a:rPr>
              <a:t>target &lt; 1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1938528"/>
            <a:ext cx="2542032" cy="17830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1" y="2103120"/>
            <a:ext cx="2176272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2C55E"/>
                </a:solidFill>
                <a:latin typeface="Consolas"/>
              </a:rPr>
              <a:t>MODEL BUNDLE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C55E"/>
                </a:solidFill>
                <a:latin typeface="Consolas"/>
              </a:rPr>
              <a:t>cap 20 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938528"/>
            <a:ext cx="2542032" cy="17830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5936" y="2103120"/>
            <a:ext cx="2176272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99.5%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2C55E"/>
                </a:solidFill>
                <a:latin typeface="Consolas"/>
              </a:rPr>
              <a:t>LFW ACCURACY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C55E"/>
                </a:solidFill>
                <a:latin typeface="Consolas"/>
              </a:rPr>
              <a:t>target &gt; 95%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938528"/>
            <a:ext cx="2542032" cy="178308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06840" y="2103120"/>
            <a:ext cx="2176272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2C55E"/>
                </a:solidFill>
                <a:latin typeface="Consolas"/>
              </a:rPr>
              <a:t>OFFLINE CAPABLE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C55E"/>
                </a:solidFill>
                <a:latin typeface="Consolas"/>
              </a:rPr>
              <a:t>zero network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950208"/>
          <a:ext cx="105156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Avg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P95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SCRFD-500M (detect)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6.1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7.5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MobileFaceNet INT8 (embed)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43.6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49.5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C55E"/>
                          </a:solidFill>
                          <a:latin typeface="Segoe UI"/>
                        </a:rPr>
                        <a:t>MiniFASNet 2.7 / 4.0 (liveness)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1.5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C55E"/>
                          </a:solidFill>
                          <a:latin typeface="Consolas"/>
                        </a:rPr>
                        <a:t>2.1 ms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22960" y="5687568"/>
            <a:ext cx="10607040" cy="7315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C55E"/>
                </a:solidFill>
                <a:latin typeface="Segoe UI"/>
              </a:rPr>
              <a:t>Host CPU · ONNX Runtime.  Pipeline = detect + 2× liveness + embed; add align &amp; cosine &lt; 10 ms for end-to-end.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C55E"/>
                </a:solidFill>
                <a:latin typeface="Segoe UI"/>
              </a:rPr>
              <a:t>App footprint on Datalake ≈ 12.6 MB (9.1 MB models + 3.5 MB runtime).  INT8 vs FP32 cosine &gt; 0.99 on aligned faces.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React Native UI over a native ONNX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92807"/>
            <a:ext cx="10515600" cy="676656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2002536"/>
            <a:ext cx="64008" cy="4572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1984248"/>
            <a:ext cx="10094976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UI · React Native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Scan · Enrol · People · Sync · System screens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551175"/>
            <a:ext cx="292608" cy="237744"/>
          </a:xfrm>
          <a:prstGeom prst="downArrow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770632"/>
            <a:ext cx="10515600" cy="676656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880360"/>
            <a:ext cx="64008" cy="457200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0704" y="2862072"/>
            <a:ext cx="10094976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Orchestration · useFaceAuth hook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state machine: detect → liveness → recognise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428999"/>
            <a:ext cx="292608" cy="237744"/>
          </a:xfrm>
          <a:prstGeom prst="downArrow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648456"/>
            <a:ext cx="10515600" cy="676656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758183"/>
            <a:ext cx="64008" cy="457200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60704" y="3739896"/>
            <a:ext cx="10094976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Services (JS)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FaceEngine bridge · Liveness · Stores · Sync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4306824"/>
            <a:ext cx="292608" cy="237744"/>
          </a:xfrm>
          <a:prstGeom prst="downArrow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526279"/>
            <a:ext cx="10515600" cy="676656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636007"/>
            <a:ext cx="64008" cy="4572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" y="4617719"/>
            <a:ext cx="10094976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Native engine · Kotlin (Android) / Swift (iOS)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ONNX Runtime: detect · liveness · embed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5184648"/>
            <a:ext cx="292608" cy="237744"/>
          </a:xfrm>
          <a:prstGeom prst="downArrow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5404103"/>
            <a:ext cx="10515600" cy="676656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1E2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5513831"/>
            <a:ext cx="64008" cy="457200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0704" y="5495543"/>
            <a:ext cx="10094976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2C55E"/>
                </a:solidFill>
                <a:latin typeface="Segoe UI"/>
              </a:rPr>
              <a:t>Storage · SQLite + Keystore + AWS S3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C55E"/>
                </a:solidFill>
                <a:latin typeface="Consolas"/>
              </a:rPr>
              <a:t>encrypted faceprints · attendance queue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FEASIBILITY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Drops into Datalake 3.0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92807"/>
            <a:ext cx="1060704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550" b="1">
                <a:solidFill>
                  <a:srgbClr val="22C55E"/>
                </a:solidFill>
                <a:latin typeface="Segoe UI"/>
              </a:rPr>
              <a:t>Register one native package.</a:t>
            </a:r>
            <a:r>
              <a:rPr sz="1550" b="0">
                <a:solidFill>
                  <a:srgbClr val="22C55E"/>
                </a:solidFill>
                <a:latin typeface="Segoe UI"/>
              </a:rPr>
              <a:t>  add FaceEnginePackage() (Android) / link the Swift module (iOS).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550" b="1">
                <a:solidFill>
                  <a:srgbClr val="22C55E"/>
                </a:solidFill>
                <a:latin typeface="Segoe UI"/>
              </a:rPr>
              <a:t>Add the ONNX dependency + 4 model assets.</a:t>
            </a:r>
            <a:r>
              <a:rPr sz="1550" b="0">
                <a:solidFill>
                  <a:srgbClr val="22C55E"/>
                </a:solidFill>
                <a:latin typeface="Segoe UI"/>
              </a:rPr>
              <a:t>  ≈ 12.6 MB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550" b="1">
                <a:solidFill>
                  <a:srgbClr val="22C55E"/>
                </a:solidFill>
                <a:latin typeface="Segoe UI"/>
              </a:rPr>
              <a:t>Import the screens &amp; services.</a:t>
            </a:r>
            <a:r>
              <a:rPr sz="1550" b="0">
                <a:solidFill>
                  <a:srgbClr val="22C55E"/>
                </a:solidFill>
                <a:latin typeface="Segoe UI"/>
              </a:rPr>
              <a:t>  Auth / Enrol / Sync mount in the existing navigator.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550" b="1">
                <a:solidFill>
                  <a:srgbClr val="22C55E"/>
                </a:solidFill>
                <a:latin typeface="Segoe UI"/>
              </a:rPr>
              <a:t>Point SYNC_BASE_URL at a presigned endpoint.</a:t>
            </a:r>
            <a:r>
              <a:rPr sz="1550" b="0">
                <a:solidFill>
                  <a:srgbClr val="22C55E"/>
                </a:solidFill>
                <a:latin typeface="Segoe UI"/>
              </a:rPr>
              <a:t>  the only backend touchpoint.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2C55E"/>
                </a:solidFill>
                <a:latin typeface="Segoe UI"/>
              </a:rPr>
              <a:t>▸  </a:t>
            </a:r>
            <a:r>
              <a:rPr sz="1550" b="1">
                <a:solidFill>
                  <a:srgbClr val="22C55E"/>
                </a:solidFill>
                <a:latin typeface="Segoe UI"/>
              </a:rPr>
              <a:t>Zero changes to the offline auth path.</a:t>
            </a:r>
            <a:r>
              <a:rPr sz="1550" b="0">
                <a:solidFill>
                  <a:srgbClr val="22C55E"/>
                </a:solidFill>
                <a:latin typeface="Segoe UI"/>
              </a:rPr>
              <a:t>  no other Datalake backend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47488"/>
            <a:ext cx="10515600" cy="914400"/>
          </a:xfrm>
          <a:prstGeom prst="roundRect">
            <a:avLst/>
          </a:prstGeom>
          <a:solidFill>
            <a:srgbClr val="080C1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47488"/>
            <a:ext cx="73152" cy="9144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157216"/>
            <a:ext cx="10058400" cy="7315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C55E"/>
                </a:solidFill>
                <a:latin typeface="Segoe UI"/>
              </a:rPr>
              <a:t>iOS engine is written </a:t>
            </a:r>
            <a:r>
              <a:rPr sz="1400" b="1">
                <a:solidFill>
                  <a:srgbClr val="22C55E"/>
                </a:solidFill>
                <a:latin typeface="Consolas"/>
              </a:rPr>
              <a:t>(ios/FaceEngine/, a 1:1 Swift port, same models &amp; math)</a:t>
            </a:r>
            <a:r>
              <a:rPr sz="1400" b="0">
                <a:solidFill>
                  <a:srgbClr val="22C55E"/>
                </a:solidFill>
                <a:latin typeface="Segoe UI"/>
              </a:rPr>
              <a:t>; remaining work is one-time Xcode build wiring on a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ENGINEERING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Open-source, typed,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Open-source only.</a:t>
            </a:r>
            <a:r>
              <a:rPr sz="1600" b="0">
                <a:solidFill>
                  <a:srgbClr val="22C55E"/>
                </a:solidFill>
                <a:latin typeface="Segoe UI"/>
              </a:rPr>
              <a:t>  MIT / Apache stack, no paid licences, source shared.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TypeScript strict.</a:t>
            </a:r>
            <a:r>
              <a:rPr sz="1600" b="0">
                <a:solidFill>
                  <a:srgbClr val="22C55E"/>
                </a:solidFill>
                <a:latin typeface="Segoe UI"/>
              </a:rPr>
              <a:t>  typecheck clean; 15 unit tests passing.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Standalone offline APK.</a:t>
            </a:r>
            <a:r>
              <a:rPr sz="1600" b="0">
                <a:solidFill>
                  <a:srgbClr val="22C55E"/>
                </a:solidFill>
                <a:latin typeface="Segoe UI"/>
              </a:rPr>
              <a:t>  release build embeds JS; runs in airplane mode, no Metro.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Reproducible models.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Python export + validation scripts in the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Documented.</a:t>
            </a:r>
            <a:r>
              <a:rPr sz="1600" b="0">
                <a:solidFill>
                  <a:srgbClr val="22C55E"/>
                </a:solidFill>
                <a:latin typeface="Segoe UI"/>
              </a:rPr>
              <a:t>  architecture, model pipeline, benchmarks, Datalake integration guide.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SCALABILITY · SUSTAINABILITY · 20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Built to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Scales to N users.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cosine match &lt; 5 ms at 500 enrolled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Lean by design.</a:t>
            </a:r>
            <a:r>
              <a:rPr sz="1600" b="0">
                <a:solidFill>
                  <a:srgbClr val="22C55E"/>
                </a:solidFill>
                <a:latin typeface="Segoe UI"/>
              </a:rPr>
              <a:t>  SQLite queue → batch S3 → purge keeps storage flat.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Swappable models.</a:t>
            </a:r>
            <a:r>
              <a:rPr sz="1600" b="0">
                <a:solidFill>
                  <a:srgbClr val="22C55E"/>
                </a:solidFill>
                <a:latin typeface="Segoe UI"/>
              </a:rPr>
              <a:t>  update accuracy by replacing ONNX files, 8 MB headroom.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Demographic tuning.</a:t>
            </a:r>
            <a:r>
              <a:rPr sz="1600" b="0">
                <a:solidFill>
                  <a:srgbClr val="22C55E"/>
                </a:solidFill>
                <a:latin typeface="Segoe UI"/>
              </a:rPr>
              <a:t>  on-device fine-tune on an Indian face subset (roadmap).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2C55E"/>
                </a:solidFill>
                <a:latin typeface="Segoe UI"/>
              </a:rPr>
              <a:t>▸  </a:t>
            </a:r>
            <a:r>
              <a:rPr sz="1600" b="1">
                <a:solidFill>
                  <a:srgbClr val="22C55E"/>
                </a:solidFill>
                <a:latin typeface="Segoe UI"/>
              </a:rPr>
              <a:t>iOS device build + GPU delegate.</a:t>
            </a:r>
            <a:r>
              <a:rPr sz="1600" b="0">
                <a:solidFill>
                  <a:srgbClr val="22C55E"/>
                </a:solidFill>
                <a:latin typeface="Segoe UI"/>
              </a:rPr>
              <a:t>  next on the path to full parity.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2C55E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22C55E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22C55E"/>
                </a:solidFill>
                <a:latin typeface="Consolas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C55E"/>
                </a:solidFill>
                <a:latin typeface="Consolas"/>
              </a:rPr>
              <a:t>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2C55E"/>
                </a:solidFill>
                <a:latin typeface="Segoe UI"/>
              </a:rPr>
              <a:t>How OfflineID maps to the rubric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080C1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2075688"/>
          <a:ext cx="1051560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Marks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Where we win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Innovation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9.1 MB edge AI · two-layer liveness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Feasibility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drops into Datalake 3.0 · ~51 ms · &lt; 1 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Scalability &amp; Sustainability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offline queue · sync/purge · model swaps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C55E"/>
                          </a:solidFill>
                          <a:latin typeface="Segoe UI"/>
                        </a:rPr>
                        <a:t>Presentation &amp; Documentation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C55E"/>
                          </a:solidFill>
                          <a:latin typeface="Consolas"/>
                        </a:rPr>
                        <a:t>source clarity · integration guide · this deck</a:t>
                      </a:r>
                    </a:p>
                  </a:txBody>
                  <a:tcPr marL="128016" marR="73152" marT="18288" marB="18288" anchor="ctr">
                    <a:solidFill>
                      <a:srgbClr val="080C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458968"/>
            <a:ext cx="1051560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C55E"/>
                </a:solidFill>
                <a:latin typeface="Segoe UI"/>
              </a:rPr>
              <a:t>Open-source · lightweight · fully offline · ready for Datalake 3.0.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08760"/>
            <a:ext cx="73152" cy="310896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536192"/>
            <a:ext cx="105156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C55E"/>
                </a:solidFill>
                <a:latin typeface="Consolas"/>
              </a:rPr>
              <a:t>OFFLINE·ID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0704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22C55E"/>
                </a:solidFill>
                <a:latin typeface="Segoe UI"/>
              </a:rPr>
              <a:t>Authenticate anyone, anywhere,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22C55E"/>
                </a:solidFill>
                <a:latin typeface="Segoe UI"/>
              </a:rPr>
              <a:t>zero network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383280"/>
            <a:ext cx="1828800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2C55E"/>
                </a:solidFill>
                <a:latin typeface="Segoe UI"/>
              </a:rPr>
              <a:t>Secure · lightweight · fully offline face auth that plugs into Datalake 3.0.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22C55E"/>
                </a:solidFill>
                <a:latin typeface="Consolas"/>
              </a:rPr>
              <a:t>Source    </a:t>
            </a:r>
            <a:r>
              <a:rPr sz="1300" b="0" dirty="0">
                <a:solidFill>
                  <a:srgbClr val="22C55E"/>
                </a:solidFill>
                <a:latin typeface="Consolas"/>
              </a:rPr>
              <a:t>github.com/</a:t>
            </a:r>
            <a:r>
              <a:rPr sz="1300" b="0" dirty="0" err="1">
                <a:solidFill>
                  <a:srgbClr val="22C55E"/>
                </a:solidFill>
                <a:latin typeface="Consolas"/>
              </a:rPr>
              <a:t>moneytosms</a:t>
            </a:r>
            <a:r>
              <a:rPr sz="1300" b="0" dirty="0">
                <a:solidFill>
                  <a:srgbClr val="22C55E"/>
                </a:solidFill>
                <a:latin typeface="Consolas"/>
              </a:rPr>
              <a:t>/</a:t>
            </a:r>
            <a:r>
              <a:rPr sz="1300" b="0" dirty="0" err="1">
                <a:solidFill>
                  <a:srgbClr val="22C55E"/>
                </a:solidFill>
                <a:latin typeface="Consolas"/>
              </a:rPr>
              <a:t>offlineid</a:t>
            </a:r>
            <a:endParaRPr sz="1300" b="0" dirty="0">
              <a:solidFill>
                <a:srgbClr val="00E676"/>
              </a:solidFill>
              <a:latin typeface="Consolas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22C55E"/>
                </a:solidFill>
                <a:latin typeface="Consolas"/>
              </a:rPr>
              <a:t>Release   </a:t>
            </a:r>
            <a:r>
              <a:rPr sz="1300" b="0" dirty="0">
                <a:solidFill>
                  <a:srgbClr val="22C55E"/>
                </a:solidFill>
                <a:latin typeface="Consolas"/>
              </a:rPr>
              <a:t>github.com/</a:t>
            </a:r>
            <a:r>
              <a:rPr sz="1300" b="0" dirty="0" err="1">
                <a:solidFill>
                  <a:srgbClr val="22C55E"/>
                </a:solidFill>
                <a:latin typeface="Consolas"/>
              </a:rPr>
              <a:t>moneytosms</a:t>
            </a:r>
            <a:r>
              <a:rPr sz="1300" b="0" dirty="0">
                <a:solidFill>
                  <a:srgbClr val="22C55E"/>
                </a:solidFill>
                <a:latin typeface="Consolas"/>
              </a:rPr>
              <a:t>/</a:t>
            </a:r>
            <a:r>
              <a:rPr sz="1300" b="0" dirty="0" err="1">
                <a:solidFill>
                  <a:srgbClr val="22C55E"/>
                </a:solidFill>
                <a:latin typeface="Consolas"/>
              </a:rPr>
              <a:t>offlineid</a:t>
            </a:r>
            <a:r>
              <a:rPr sz="1300" b="0" dirty="0">
                <a:solidFill>
                  <a:srgbClr val="22C55E"/>
                </a:solidFill>
                <a:latin typeface="Consolas"/>
              </a:rPr>
              <a:t>/releases/tag/v1.1.0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D81DD-C49B-E7E0-8728-F83D1B42B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A7094E-049C-1451-1A34-C8B3C84A2ECF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69AFA6-AF8B-202A-50CF-9CD965EE53B0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BDB871-AE93-4C87-9B09-73A96081E460}"/>
              </a:ext>
            </a:extLst>
          </p:cNvPr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8686CB-EAC9-2BB3-84F3-54F6760DD7BD}"/>
              </a:ext>
            </a:extLst>
          </p:cNvPr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DB518-F8EA-3E14-CA99-751BC951045E}"/>
              </a:ext>
            </a:extLst>
          </p:cNvPr>
          <p:cNvSpPr/>
          <p:nvPr/>
        </p:nvSpPr>
        <p:spPr>
          <a:xfrm flipH="1">
            <a:off x="850392" y="502920"/>
            <a:ext cx="45719" cy="310896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F3190-1125-BA1A-762B-97BAEB12EDB5}"/>
              </a:ext>
            </a:extLst>
          </p:cNvPr>
          <p:cNvSpPr txBox="1"/>
          <p:nvPr/>
        </p:nvSpPr>
        <p:spPr>
          <a:xfrm>
            <a:off x="1024128" y="502920"/>
            <a:ext cx="10515600" cy="246221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dirty="0">
                <a:solidFill>
                  <a:srgbClr val="22C55E"/>
                </a:solidFill>
                <a:latin typeface="Consolas"/>
              </a:rPr>
              <a:t>OFFLINE·ID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F1D2F2-4DFA-F45F-7BC3-DAB593B885A3}"/>
              </a:ext>
            </a:extLst>
          </p:cNvPr>
          <p:cNvSpPr/>
          <p:nvPr/>
        </p:nvSpPr>
        <p:spPr>
          <a:xfrm>
            <a:off x="822960" y="922877"/>
            <a:ext cx="1828800" cy="45720"/>
          </a:xfrm>
          <a:prstGeom prst="rect">
            <a:avLst/>
          </a:prstGeom>
          <a:solidFill>
            <a:srgbClr val="22C55E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FB7E6-F9E4-843C-B021-15991EDB5227}"/>
              </a:ext>
            </a:extLst>
          </p:cNvPr>
          <p:cNvSpPr txBox="1"/>
          <p:nvPr/>
        </p:nvSpPr>
        <p:spPr>
          <a:xfrm>
            <a:off x="822960" y="5897880"/>
            <a:ext cx="10515600" cy="512961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dirty="0">
                <a:solidFill>
                  <a:srgbClr val="22C55E"/>
                </a:solidFill>
                <a:latin typeface="Segoe UI"/>
              </a:rPr>
              <a:t>Thank you   ·</a:t>
            </a:r>
            <a:endParaRPr lang="en-IN" sz="1500" b="1" dirty="0">
              <a:solidFill>
                <a:srgbClr val="EAF3E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endParaRPr sz="1500" b="1" dirty="0">
              <a:solidFill>
                <a:srgbClr val="EAF3EF"/>
              </a:solidFill>
              <a:latin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432CB-E180-5F2B-22DE-57A20E3F4419}"/>
              </a:ext>
            </a:extLst>
          </p:cNvPr>
          <p:cNvSpPr txBox="1"/>
          <p:nvPr/>
        </p:nvSpPr>
        <p:spPr>
          <a:xfrm>
            <a:off x="822960" y="1207008"/>
            <a:ext cx="5905527" cy="615553"/>
          </a:xfrm>
          <a:prstGeom prst="rect">
            <a:avLst/>
          </a:prstGeom>
          <a:noFill/>
          <a:ln>
            <a:solidFill/>
          </a:ln>
        </p:spPr>
        <p:txBody>
          <a:bodyPr wrap="none" rtlCol="0">
            <a:spAutoFit/>
          </a:bodyPr>
          <a:lstStyle/>
          <a:p>
            <a:r>
              <a:rPr lang="en-IN" sz="3400" u="sng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Submitted by: Team </a:t>
            </a:r>
            <a:r>
              <a:rPr lang="en-IN" sz="3400" b="1" i="1" u="sng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Optional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504ED5-A037-F7B0-64D5-776075208A21}"/>
              </a:ext>
            </a:extLst>
          </p:cNvPr>
          <p:cNvSpPr txBox="1"/>
          <p:nvPr/>
        </p:nvSpPr>
        <p:spPr>
          <a:xfrm>
            <a:off x="2031339" y="2303954"/>
            <a:ext cx="7232904" cy="2062103"/>
          </a:xfrm>
          <a:prstGeom prst="rect">
            <a:avLst/>
          </a:prstGeom>
          <a:noFill/>
          <a:ln>
            <a:solid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Srimoneyshankar Ajith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Akshay V.S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Nidhi Rakesh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3200" dirty="0">
                <a:solidFill>
                  <a:srgbClr val="38BD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Bharadwaj B Chand</a:t>
            </a:r>
          </a:p>
        </p:txBody>
      </p:sp>
    </p:spTree>
    <p:extLst>
      <p:ext uri="{BB962C8B-B14F-4D97-AF65-F5344CB8AC3E}">
        <p14:creationId xmlns:p14="http://schemas.microsoft.com/office/powerpoint/2010/main" val="2597690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1538</Words>
  <Application>Microsoft Office PowerPoint</Application>
  <PresentationFormat>Widescreen</PresentationFormat>
  <Paragraphs>237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Srimoneyshankar Ajith</cp:lastModifiedBy>
  <cp:revision>2</cp:revision>
  <dcterms:created xsi:type="dcterms:W3CDTF">2013-01-27T09:14:16Z</dcterms:created>
  <dcterms:modified xsi:type="dcterms:W3CDTF">2026-05-30T15:37:45Z</dcterms:modified>
  <cp:category/>
</cp:coreProperties>
</file>