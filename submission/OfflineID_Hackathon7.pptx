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E676"/>
                </a:solidFill>
                <a:latin typeface="Consolas"/>
              </a:rPr>
              <a:t>BIOMETRIC FIELD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600" b="1">
                <a:solidFill>
                  <a:srgbClr val="EAF3EF"/>
                </a:solidFill>
                <a:latin typeface="Segoe UI"/>
              </a:rPr>
              <a:t>OFFLINE·ID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154680"/>
            <a:ext cx="2194560" cy="54864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8DA39B"/>
                </a:solidFill>
                <a:latin typeface="Segoe UI"/>
              </a:rPr>
              <a:t>Secure offline facial recognition &amp; liveness detection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8DA39B"/>
                </a:solidFill>
                <a:latin typeface="Segoe UI"/>
              </a:rPr>
              <a:t>for field personnel in zero-network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00600"/>
            <a:ext cx="2194560" cy="384048"/>
          </a:xfrm>
          <a:prstGeom prst="roundRect">
            <a:avLst/>
          </a:prstGeom>
          <a:noFill/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E676"/>
                </a:solidFill>
                <a:latin typeface="Consolas"/>
              </a:rPr>
              <a:t>100% ON-DEVICE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4800600"/>
            <a:ext cx="1920240" cy="384048"/>
          </a:xfrm>
          <a:prstGeom prst="roundRect">
            <a:avLst/>
          </a:prstGeom>
          <a:noFill/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4FC3F7"/>
                </a:solidFill>
                <a:latin typeface="Consolas"/>
              </a:rPr>
              <a:t>ANDROID + 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800600"/>
            <a:ext cx="2011680" cy="384048"/>
          </a:xfrm>
          <a:prstGeom prst="roundRect">
            <a:avLst/>
          </a:prstGeom>
          <a:noFill/>
          <a:ln w="1587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B300"/>
                </a:solidFill>
                <a:latin typeface="Consolas"/>
              </a:rPr>
              <a:t>9.1 MB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AF3EF"/>
                </a:solidFill>
                <a:latin typeface="Segoe UI"/>
              </a:rPr>
              <a:t>NHAI Hackathon 7.0</a:t>
            </a:r>
            <a:r>
              <a:rPr sz="1300" b="0">
                <a:solidFill>
                  <a:srgbClr val="5C726A"/>
                </a:solidFill>
                <a:latin typeface="Segoe UI"/>
              </a:rPr>
              <a:t>   ·   Datalake 3.0 integration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Authenticating field staff where there is no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Zero-network sites.</a:t>
            </a:r>
            <a:r>
              <a:rPr sz="1600" b="0">
                <a:solidFill>
                  <a:srgbClr val="8DA39B"/>
                </a:solidFill>
                <a:latin typeface="Segoe UI"/>
              </a:rPr>
              <a:t>  NHAI personnel work in remote zones, cloud face APIs simply fail offline.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Fraud risk.</a:t>
            </a:r>
            <a:r>
              <a:rPr sz="1600" b="0">
                <a:solidFill>
                  <a:srgbClr val="8DA39B"/>
                </a:solidFill>
                <a:latin typeface="Segoe UI"/>
              </a:rPr>
              <a:t>  Photos and phone-screen replays let people fake attendance.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Constrained hardware.</a:t>
            </a:r>
            <a:r>
              <a:rPr sz="1600" b="0">
                <a:solidFill>
                  <a:srgbClr val="8DA39B"/>
                </a:solidFill>
                <a:latin typeface="Segoe UI"/>
              </a:rPr>
              <a:t>  Must run on mid-range phones: 3 GB RAM, Android 8+/iOS 12+, no GPU.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Hard targets.</a:t>
            </a:r>
            <a:r>
              <a:rPr sz="1600" b="0">
                <a:solidFill>
                  <a:srgbClr val="8DA39B"/>
                </a:solidFill>
                <a:latin typeface="Segoe UI"/>
              </a:rPr>
              <a:t>  &lt; 1 second, &gt; 95% accuracy, diverse Indian faces, harsh outdoor light.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Must fit Datalake 3.0.</a:t>
            </a:r>
            <a:r>
              <a:rPr sz="1600" b="0">
                <a:solidFill>
                  <a:srgbClr val="8DA39B"/>
                </a:solidFill>
                <a:latin typeface="Segoe UI"/>
              </a:rPr>
              <a:t>  Ship as a React Native module, not a separate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10515600" cy="868680"/>
          </a:xfrm>
          <a:prstGeom prst="roundRect">
            <a:avLst/>
          </a:prstGeom>
          <a:solidFill>
            <a:srgbClr val="161D1A"/>
          </a:solidFill>
          <a:ln w="15875">
            <a:solidFill>
              <a:srgbClr val="2F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21208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0E676"/>
                </a:solidFill>
                <a:latin typeface="Segoe UI"/>
              </a:rPr>
              <a:t>"</a:t>
            </a:r>
            <a:r>
              <a:rPr sz="1450" b="0">
                <a:solidFill>
                  <a:srgbClr val="EAF3EF"/>
                </a:solidFill>
                <a:latin typeface="Segoe UI"/>
              </a:rPr>
              <a:t>How do we authenticate field personnel securely, fully offline, on standard phones, and integrate it into a React Native app on Android and iOS?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A fully on-device authentication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AF3EF"/>
                </a:solidFill>
                <a:latin typeface="Segoe UI"/>
              </a:rPr>
              <a:t>Detect → prove liveness → recognise in </a:t>
            </a:r>
            <a:r>
              <a:rPr sz="1800" b="1">
                <a:solidFill>
                  <a:srgbClr val="00E676"/>
                </a:solidFill>
                <a:latin typeface="Consolas"/>
              </a:rPr>
              <a:t>~50 ms</a:t>
            </a:r>
            <a:r>
              <a:rPr sz="1800" b="0">
                <a:solidFill>
                  <a:srgbClr val="EAF3EF"/>
                </a:solidFill>
                <a:latin typeface="Segoe UI"/>
              </a:rPr>
              <a:t>, with no internet, then </a:t>
            </a:r>
            <a:r>
              <a:rPr sz="1800" b="1">
                <a:solidFill>
                  <a:srgbClr val="00E676"/>
                </a:solidFill>
                <a:latin typeface="Segoe UI"/>
              </a:rPr>
              <a:t>sync-and-purge</a:t>
            </a:r>
            <a:r>
              <a:rPr sz="1800" b="0">
                <a:solidFill>
                  <a:srgbClr val="EAF3EF"/>
                </a:solidFill>
                <a:latin typeface="Segoe UI"/>
              </a:rPr>
              <a:t> to AWS when back online.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54680"/>
            <a:ext cx="2542032" cy="228600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55848"/>
            <a:ext cx="217627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0E676"/>
                </a:solidFill>
                <a:latin typeface="Consolas"/>
              </a:rPr>
              <a:t>OFFLINE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8DA39B"/>
                </a:solidFill>
                <a:latin typeface="Segoe UI"/>
              </a:rPr>
              <a:t>Recognition + liveness run
entirely on the 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3" y="3154680"/>
            <a:ext cx="2542032" cy="228600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3355848"/>
            <a:ext cx="217627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4FC3F7"/>
                </a:solidFill>
                <a:latin typeface="Consolas"/>
              </a:rPr>
              <a:t>ANTI-SPOOF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8DA39B"/>
                </a:solidFill>
                <a:latin typeface="Segoe UI"/>
              </a:rPr>
              <a:t>Passive FASNet + active
gesture defeat photos.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3154680"/>
            <a:ext cx="2542032" cy="228600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3355848"/>
            <a:ext cx="217627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B300"/>
                </a:solidFill>
                <a:latin typeface="Consolas"/>
              </a:rPr>
              <a:t>ENCRYPTED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8DA39B"/>
                </a:solidFill>
                <a:latin typeface="Segoe UI"/>
              </a:rPr>
              <a:t>AES-256-GCM faceprints;
no raw images stored.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05672" y="3154680"/>
            <a:ext cx="2542032" cy="228600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1" y="3355848"/>
            <a:ext cx="217627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0E676"/>
                </a:solidFill>
                <a:latin typeface="Consolas"/>
              </a:rPr>
              <a:t>SYNC &amp; PURGE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8DA39B"/>
                </a:solidFill>
                <a:latin typeface="Segoe UI"/>
              </a:rPr>
              <a:t>Presigned S3 upload, then
local records deleted.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THE AI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Camera still to attendance 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566928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38528"/>
            <a:ext cx="101864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1 · Detect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SCRFD-500M → box + 5 landmarks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25312" y="2423160"/>
            <a:ext cx="310896" cy="274320"/>
          </a:xfrm>
          <a:prstGeom prst="down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724912"/>
            <a:ext cx="10515600" cy="566928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34640"/>
            <a:ext cx="101864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2 · Passive liveness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FASNet ×2 (2.7 / 4.0) anti-spoof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25312" y="3319272"/>
            <a:ext cx="310896" cy="274320"/>
          </a:xfrm>
          <a:prstGeom prst="down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621024"/>
            <a:ext cx="10515600" cy="566928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730752"/>
            <a:ext cx="101864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3 · Active liveness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ML Kit gesture: blink / smile / turn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25312" y="4215384"/>
            <a:ext cx="310896" cy="274320"/>
          </a:xfrm>
          <a:prstGeom prst="down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517136"/>
            <a:ext cx="10515600" cy="566928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26864"/>
            <a:ext cx="101864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4 · Recognise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ArcFace align → MobileFaceNet 512-d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25312" y="5111496"/>
            <a:ext cx="310896" cy="274320"/>
          </a:xfrm>
          <a:prstGeom prst="down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5413248"/>
            <a:ext cx="10515600" cy="566928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522976"/>
            <a:ext cx="101864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5 · Match &amp; 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cosine vs enrolled → encrypted row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25312" y="6007608"/>
            <a:ext cx="310896" cy="274320"/>
          </a:xfrm>
          <a:prstGeom prst="down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6309360"/>
            <a:ext cx="10515600" cy="566928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6419088"/>
            <a:ext cx="101864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6 · Sync &amp; purge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reconnect → S3 PUT → local delete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05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INNOVATION · 30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Edge AI that earns its footprint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429000" cy="329184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2F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00E676"/>
                </a:solidFill>
                <a:latin typeface="Segoe UI"/>
              </a:rPr>
              <a:t>9.1 MB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DA39B"/>
                </a:solidFill>
                <a:latin typeface="Consolas"/>
              </a:rPr>
              <a:t>TOTAL MODEL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AF3EF"/>
                </a:solidFill>
                <a:latin typeface="Segoe UI"/>
              </a:rPr>
              <a:t>INT8-quantised MobileFaceNet keeps the whole
bundle under half the 20 MB budget.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429000" cy="329184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2F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19456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00E676"/>
                </a:solidFill>
                <a:latin typeface="Segoe UI"/>
              </a:rPr>
              <a:t>2 layers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DA39B"/>
                </a:solidFill>
                <a:latin typeface="Consolas"/>
              </a:rPr>
              <a:t>OF LIVENESS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56616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AF3EF"/>
                </a:solidFill>
                <a:latin typeface="Segoe UI"/>
              </a:rPr>
              <a:t>Passive FASNet anti-spoof PLUS a randomised
active gesture sequence.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74519"/>
            <a:ext cx="3429000" cy="329184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2F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219456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00E676"/>
                </a:solidFill>
                <a:latin typeface="Segoe UI"/>
              </a:rPr>
              <a:t>0 cloud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DA39B"/>
                </a:solidFill>
                <a:latin typeface="Consolas"/>
              </a:rPr>
              <a:t>CALLS FOR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356616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AF3EF"/>
                </a:solidFill>
                <a:latin typeface="Segoe UI"/>
              </a:rPr>
              <a:t>Detection, liveness and matching all run
on-device, works in airplane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06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MODEL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Four open-source ONNX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874519"/>
          <a:ext cx="1051560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108960"/>
                <a:gridCol w="155448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E676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E676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E676"/>
                          </a:solidFill>
                          <a:latin typeface="Segoe UI"/>
                        </a:rPr>
                        <a:t>Size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E676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AF3EF"/>
                          </a:solidFill>
                          <a:latin typeface="Segoe UI"/>
                        </a:rPr>
                        <a:t>Detect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SCRFD-500M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2.41 MB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face box + 5 landmarks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AF3EF"/>
                          </a:solidFill>
                          <a:latin typeface="Segoe UI"/>
                        </a:rPr>
                        <a:t>Recognise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MobileFaceNet INT8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3.35 MB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512-d ArcFace embedding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AF3EF"/>
                          </a:solidFill>
                          <a:latin typeface="Segoe UI"/>
                        </a:rPr>
                        <a:t>Liveness A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MiniFASNet V2 (2.7)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1.66 MB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passive anti-spoof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AF3EF"/>
                          </a:solidFill>
                          <a:latin typeface="Segoe UI"/>
                        </a:rPr>
                        <a:t>Liveness B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MiniFASNet V1SE (4.0)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1.66 MB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passive anti-spoof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AF3EF"/>
                          </a:solidFill>
                          <a:latin typeface="Segoe UI"/>
                        </a:rPr>
                        <a:t>Runtime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ONNX Runtime Mobile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~3.5 MB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CPU / XNNPACK / NNAPI / CoreML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E676"/>
                </a:solidFill>
                <a:latin typeface="Segoe UI"/>
              </a:rPr>
              <a:t>All MIT-licensed. </a:t>
            </a:r>
            <a:r>
              <a:rPr sz="1400" b="0">
                <a:solidFill>
                  <a:srgbClr val="8DA39B"/>
                </a:solidFill>
                <a:latin typeface="Segoe UI"/>
              </a:rPr>
              <a:t>Total models 9.1 MB + ONNX Runtime ≈ 12.6 MB add to the Datalake APK, inside the 20 MB brief budget.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07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LIVENESS · ANTI-SPOOF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Two independent layers, both must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5166360" cy="338328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4FC3F7"/>
                </a:solidFill>
                <a:latin typeface="Consolas"/>
              </a:rPr>
              <a:t>PASSIVE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47548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FASNet two-scale crops (2.7 + 4.0)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Softmax P(real) &gt; 0.6 to pass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Blocks printed photos, screens, 2D masks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4FC3F7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Runs in a few milliseconds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166360" cy="338328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E676"/>
                </a:solidFill>
                <a:latin typeface="Consolas"/>
              </a:rPr>
              <a:t>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47548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Randomised gesture in a 5 s window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Blink (EAR) · turn (yaw ±20°) · smile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On-device ML Kit, no network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Ordered sequence defeats replays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B300"/>
                </a:solidFill>
                <a:latin typeface="Consolas"/>
              </a:rPr>
              <a:t>GATE:  </a:t>
            </a:r>
            <a:r>
              <a:rPr sz="1400" b="0">
                <a:solidFill>
                  <a:srgbClr val="EAF3EF"/>
                </a:solidFill>
                <a:latin typeface="Segoe UI"/>
              </a:rPr>
              <a:t>recognition only runs after both liveness layers pass.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08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Privacy-first by construction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607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Encrypted at rest.</a:t>
            </a:r>
            <a:r>
              <a:rPr sz="1600" b="0">
                <a:solidFill>
                  <a:srgbClr val="8DA39B"/>
                </a:solidFill>
                <a:latin typeface="Segoe UI"/>
              </a:rPr>
              <a:t>  Faceprints sealed with AES-256-GCM; key in the Android Keystore.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No raw images.</a:t>
            </a:r>
            <a:r>
              <a:rPr sz="1600" b="0">
                <a:solidFill>
                  <a:srgbClr val="8DA39B"/>
                </a:solidFill>
                <a:latin typeface="Segoe UI"/>
              </a:rPr>
              <a:t>  Only 512-d embeddings are stored, never photos of faces.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No cloud credentials.</a:t>
            </a:r>
            <a:r>
              <a:rPr sz="1600" b="0">
                <a:solidFill>
                  <a:srgbClr val="8DA39B"/>
                </a:solidFill>
                <a:latin typeface="Segoe UI"/>
              </a:rPr>
              <a:t>  Sync uses short-TTL presigned S3 URLs; device holds no AWS keys.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Abuse resistant.</a:t>
            </a:r>
            <a:r>
              <a:rPr sz="1600" b="0">
                <a:solidFill>
                  <a:srgbClr val="8DA39B"/>
                </a:solidFill>
                <a:latin typeface="Segoe UI"/>
              </a:rPr>
              <a:t>  30-second lockout after repeated failed attempts.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Purge on sync.</a:t>
            </a:r>
            <a:r>
              <a:rPr sz="1600" b="0">
                <a:solidFill>
                  <a:srgbClr val="8DA39B"/>
                </a:solidFill>
                <a:latin typeface="Segoe UI"/>
              </a:rPr>
              <a:t>  Attendance rows are deleted locally once the upload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09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OFFLINE-FIRST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Works fully offline, reconciles when online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5166360" cy="320040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2F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E676"/>
                </a:solidFill>
                <a:latin typeface="Consolas"/>
              </a:rPr>
              <a:t>ON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7548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SQLite: face_embeddings (permanent, encrypted)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SQLite: attendance_log (ephemeral queue)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Enroll · authenticate · log, all offline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166360" cy="320040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2F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756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300"/>
                </a:solidFill>
                <a:latin typeface="Consolas"/>
              </a:rPr>
              <a:t>SYNC &amp; PURGE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7548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FB300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NetInfo detects reconnect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FB300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Batch ≤ 10 → presigned S3 PUT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FB300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On 200 → delete local row (purge)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FB300"/>
                </a:solidFill>
                <a:latin typeface="Segoe UI"/>
              </a:rPr>
              <a:t>▸  </a:t>
            </a:r>
            <a:r>
              <a:rPr sz="1350" b="0">
                <a:solidFill>
                  <a:srgbClr val="EAF3EF"/>
                </a:solidFill>
                <a:latin typeface="Segoe UI"/>
              </a:rPr>
              <a:t>Exponential backoff; 403 → refresh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8DA39B"/>
                </a:solidFill>
                <a:latin typeface="Segoe UI"/>
              </a:rPr>
              <a:t>Devices stay lean; the server becomes the single source of truth.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PERFORMANCE ·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Measured against every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2542032" cy="182880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2F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1762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0E676"/>
                </a:solidFill>
                <a:latin typeface="Segoe UI"/>
              </a:rPr>
              <a:t>51 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AF3EF"/>
                </a:solidFill>
                <a:latin typeface="Consolas"/>
              </a:rPr>
              <a:t>HOST-CPU PIPELINE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726A"/>
                </a:solidFill>
                <a:latin typeface="Consolas"/>
              </a:rPr>
              <a:t>target &lt; 1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3" y="1874519"/>
            <a:ext cx="2542032" cy="182880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2F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057400"/>
            <a:ext cx="21762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0E676"/>
                </a:solidFill>
                <a:latin typeface="Segoe UI"/>
              </a:rPr>
              <a:t>9.1 MB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AF3EF"/>
                </a:solidFill>
                <a:latin typeface="Consolas"/>
              </a:rPr>
              <a:t>MODEL BUNDLE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726A"/>
                </a:solidFill>
                <a:latin typeface="Consolas"/>
              </a:rPr>
              <a:t>cap 20 MB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874519"/>
            <a:ext cx="2542032" cy="182880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2F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057400"/>
            <a:ext cx="21762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0E676"/>
                </a:solidFill>
                <a:latin typeface="Segoe UI"/>
              </a:rPr>
              <a:t>99.5%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AF3EF"/>
                </a:solidFill>
                <a:latin typeface="Consolas"/>
              </a:rPr>
              <a:t>LFW ACCURACY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726A"/>
                </a:solidFill>
                <a:latin typeface="Consolas"/>
              </a:rPr>
              <a:t>target &gt; 95%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05672" y="1874519"/>
            <a:ext cx="2542032" cy="1828800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2F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1" y="2057400"/>
            <a:ext cx="21762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00E676"/>
                </a:solidFill>
                <a:latin typeface="Segoe UI"/>
              </a:rPr>
              <a:t>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AF3EF"/>
                </a:solidFill>
                <a:latin typeface="Consolas"/>
              </a:rPr>
              <a:t>OFFLINE CAPABLE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C726A"/>
                </a:solidFill>
                <a:latin typeface="Consolas"/>
              </a:rPr>
              <a:t>zero network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22960" y="3931920"/>
          <a:ext cx="10515600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1828800"/>
                <a:gridCol w="2331720"/>
                <a:gridCol w="21488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E676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E676"/>
                          </a:solidFill>
                          <a:latin typeface="Segoe UI"/>
                        </a:rPr>
                        <a:t>Size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E676"/>
                          </a:solidFill>
                          <a:latin typeface="Segoe UI"/>
                        </a:rPr>
                        <a:t>Avg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E676"/>
                          </a:solidFill>
                          <a:latin typeface="Segoe UI"/>
                        </a:rPr>
                        <a:t>P95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AF3EF"/>
                          </a:solidFill>
                          <a:latin typeface="Segoe UI"/>
                        </a:rPr>
                        <a:t>SCRFD-500M (detect)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8DA39B"/>
                          </a:solidFill>
                          <a:latin typeface="Consolas"/>
                        </a:rPr>
                        <a:t>2.41 MB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8DA39B"/>
                          </a:solidFill>
                          <a:latin typeface="Consolas"/>
                        </a:rPr>
                        <a:t>6.1 ms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8DA39B"/>
                          </a:solidFill>
                          <a:latin typeface="Consolas"/>
                        </a:rPr>
                        <a:t>7.5 ms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AF3EF"/>
                          </a:solidFill>
                          <a:latin typeface="Segoe UI"/>
                        </a:rPr>
                        <a:t>MobileFaceNet INT8 (embed)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8DA39B"/>
                          </a:solidFill>
                          <a:latin typeface="Consolas"/>
                        </a:rPr>
                        <a:t>3.35 MB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8DA39B"/>
                          </a:solidFill>
                          <a:latin typeface="Consolas"/>
                        </a:rPr>
                        <a:t>43.6 ms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8DA39B"/>
                          </a:solidFill>
                          <a:latin typeface="Consolas"/>
                        </a:rPr>
                        <a:t>49.5 ms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EAF3EF"/>
                          </a:solidFill>
                          <a:latin typeface="Segoe UI"/>
                        </a:rPr>
                        <a:t>MiniFASNet 2.7 / 4.0 (liveness)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8DA39B"/>
                          </a:solidFill>
                          <a:latin typeface="Consolas"/>
                        </a:rPr>
                        <a:t>1.66 MB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8DA39B"/>
                          </a:solidFill>
                          <a:latin typeface="Consolas"/>
                        </a:rPr>
                        <a:t>1.5 ms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8DA39B"/>
                          </a:solidFill>
                          <a:latin typeface="Consolas"/>
                        </a:rPr>
                        <a:t>2.1 ms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22960" y="56692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8DA39B"/>
                </a:solidFill>
                <a:latin typeface="Segoe UI"/>
              </a:rPr>
              <a:t>Host CPU · ONNX Runtime.  Pipeline = detect + 2x liveness + embed; add align &amp; cosine &lt; 10 ms for end-to-end.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8DA39B"/>
                </a:solidFill>
                <a:latin typeface="Segoe UI"/>
              </a:rPr>
              <a:t>App footprint on Datalake ≈ 12.6 MB (9.1 MB models + 3.5 MB runtime).  INT8 vs FP32 cosine &gt; 0.99 on aligned faces.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React Native UI over a native ONNX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713232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38528"/>
            <a:ext cx="1018641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UI · React Native + TypeScript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Scan · Enrol · People · Sync · System screens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25312" y="2542032"/>
            <a:ext cx="310896" cy="274320"/>
          </a:xfrm>
          <a:prstGeom prst="down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798064"/>
            <a:ext cx="10515600" cy="713232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907792"/>
            <a:ext cx="1018641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Orchestration · useFaceAuth hook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state machine: detect → liveness → recognise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25312" y="3511296"/>
            <a:ext cx="310896" cy="274320"/>
          </a:xfrm>
          <a:prstGeom prst="down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767328"/>
            <a:ext cx="10515600" cy="713232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877056"/>
            <a:ext cx="1018641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Services (JS)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FaceEngine bridge · Liveness · Stores · Sync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25312" y="4480560"/>
            <a:ext cx="310896" cy="274320"/>
          </a:xfrm>
          <a:prstGeom prst="down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736592"/>
            <a:ext cx="10515600" cy="713232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46320"/>
            <a:ext cx="1018641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Native engine · Kotlin (Android) / Swift (iOS)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ONNX Runtime: detect · liveness · embed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25312" y="5449824"/>
            <a:ext cx="310896" cy="274320"/>
          </a:xfrm>
          <a:prstGeom prst="downArrow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5705856"/>
            <a:ext cx="10515600" cy="713232"/>
          </a:xfrm>
          <a:prstGeom prst="roundRect">
            <a:avLst/>
          </a:prstGeom>
          <a:solidFill>
            <a:srgbClr val="111714"/>
          </a:solidFill>
          <a:ln w="1587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815584"/>
            <a:ext cx="1018641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AF3EF"/>
                </a:solidFill>
                <a:latin typeface="Segoe UI"/>
              </a:rPr>
              <a:t>Storage · SQLite + Keystore + AWS S3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8DA39B"/>
                </a:solidFill>
                <a:latin typeface="Consolas"/>
              </a:rPr>
              <a:t>encrypted faceprints · attendance queue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FEASIBILITY · 30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Drops into Datalake 3.0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607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550" b="1">
                <a:solidFill>
                  <a:srgbClr val="EAF3EF"/>
                </a:solidFill>
                <a:latin typeface="Segoe UI"/>
              </a:rPr>
              <a:t>Register one native package.</a:t>
            </a:r>
            <a:r>
              <a:rPr sz="1550" b="0">
                <a:solidFill>
                  <a:srgbClr val="8DA39B"/>
                </a:solidFill>
                <a:latin typeface="Segoe UI"/>
              </a:rPr>
              <a:t>  add FaceEnginePackage() (Android) / link the Swift module (iOS).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550" b="1">
                <a:solidFill>
                  <a:srgbClr val="EAF3EF"/>
                </a:solidFill>
                <a:latin typeface="Segoe UI"/>
              </a:rPr>
              <a:t>Add the ONNX dependency + 4 model assets.</a:t>
            </a:r>
            <a:r>
              <a:rPr sz="1550" b="0">
                <a:solidFill>
                  <a:srgbClr val="8DA39B"/>
                </a:solidFill>
                <a:latin typeface="Segoe UI"/>
              </a:rPr>
              <a:t>  ≈ 12.6 MB total.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550" b="1">
                <a:solidFill>
                  <a:srgbClr val="EAF3EF"/>
                </a:solidFill>
                <a:latin typeface="Segoe UI"/>
              </a:rPr>
              <a:t>Import the screens &amp; services.</a:t>
            </a:r>
            <a:r>
              <a:rPr sz="1550" b="0">
                <a:solidFill>
                  <a:srgbClr val="8DA39B"/>
                </a:solidFill>
                <a:latin typeface="Segoe UI"/>
              </a:rPr>
              <a:t>  Auth / Enrol / Sync mount in the existing navigator.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550" b="1">
                <a:solidFill>
                  <a:srgbClr val="EAF3EF"/>
                </a:solidFill>
                <a:latin typeface="Segoe UI"/>
              </a:rPr>
              <a:t>Point SYNC_BASE_URL at a presigned endpoint.</a:t>
            </a:r>
            <a:r>
              <a:rPr sz="1550" b="0">
                <a:solidFill>
                  <a:srgbClr val="8DA39B"/>
                </a:solidFill>
                <a:latin typeface="Segoe UI"/>
              </a:rPr>
              <a:t>  the only backend touchpoint.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00E676"/>
                </a:solidFill>
                <a:latin typeface="Segoe UI"/>
              </a:rPr>
              <a:t>▸  </a:t>
            </a:r>
            <a:r>
              <a:rPr sz="1550" b="1">
                <a:solidFill>
                  <a:srgbClr val="EAF3EF"/>
                </a:solidFill>
                <a:latin typeface="Segoe UI"/>
              </a:rPr>
              <a:t>Zero changes to the offline auth path.</a:t>
            </a:r>
            <a:r>
              <a:rPr sz="1550" b="0">
                <a:solidFill>
                  <a:srgbClr val="8DA39B"/>
                </a:solidFill>
                <a:latin typeface="Segoe UI"/>
              </a:rPr>
              <a:t>  no other Datalake backend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983480"/>
            <a:ext cx="10515600" cy="914400"/>
          </a:xfrm>
          <a:prstGeom prst="roundRect">
            <a:avLst/>
          </a:prstGeom>
          <a:solidFill>
            <a:srgbClr val="161D1A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093208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AF3EF"/>
                </a:solidFill>
                <a:latin typeface="Segoe UI"/>
              </a:rPr>
              <a:t>iOS engine is written </a:t>
            </a:r>
            <a:r>
              <a:rPr sz="1400" b="1">
                <a:solidFill>
                  <a:srgbClr val="00E676"/>
                </a:solidFill>
                <a:latin typeface="Consolas"/>
              </a:rPr>
              <a:t>(ios/FaceEngine/, a 1:1 Swift port, same models &amp; math)</a:t>
            </a:r>
            <a:r>
              <a:rPr sz="1400" b="0">
                <a:solidFill>
                  <a:srgbClr val="EAF3EF"/>
                </a:solidFill>
                <a:latin typeface="Segoe UI"/>
              </a:rPr>
              <a:t>; remaining work is one-time Xcode build wiring on a Mac.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ENGINEERING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Open-source, typed, tested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607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Open-source only.</a:t>
            </a:r>
            <a:r>
              <a:rPr sz="1600" b="0">
                <a:solidFill>
                  <a:srgbClr val="8DA39B"/>
                </a:solidFill>
                <a:latin typeface="Segoe UI"/>
              </a:rPr>
              <a:t>  MIT / Apache stack, no paid licences, source shared.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TypeScript strict.</a:t>
            </a:r>
            <a:r>
              <a:rPr sz="1600" b="0">
                <a:solidFill>
                  <a:srgbClr val="8DA39B"/>
                </a:solidFill>
                <a:latin typeface="Segoe UI"/>
              </a:rPr>
              <a:t>  typecheck clean; 15 unit tests passing.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Standalone offline APK.</a:t>
            </a:r>
            <a:r>
              <a:rPr sz="1600" b="0">
                <a:solidFill>
                  <a:srgbClr val="8DA39B"/>
                </a:solidFill>
                <a:latin typeface="Segoe UI"/>
              </a:rPr>
              <a:t>  release build embeds JS, runs in airplane mode, no Metro.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Reproducible models.</a:t>
            </a:r>
            <a:r>
              <a:rPr sz="1600" b="0">
                <a:solidFill>
                  <a:srgbClr val="8DA39B"/>
                </a:solidFill>
                <a:latin typeface="Segoe UI"/>
              </a:rPr>
              <a:t>  Python export + validation scripts in the repo.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Documented.</a:t>
            </a:r>
            <a:r>
              <a:rPr sz="1600" b="0">
                <a:solidFill>
                  <a:srgbClr val="8DA39B"/>
                </a:solidFill>
                <a:latin typeface="Segoe UI"/>
              </a:rPr>
              <a:t>  architecture, model pipeline, benchmarks, Datalake integration guide.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SCALABILITY · SUSTAINABILITY · 20 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Built to grow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0607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Scales to N users.</a:t>
            </a:r>
            <a:r>
              <a:rPr sz="1600" b="0">
                <a:solidFill>
                  <a:srgbClr val="8DA39B"/>
                </a:solidFill>
                <a:latin typeface="Segoe UI"/>
              </a:rPr>
              <a:t>  cosine match &lt; 5 ms at 500 enrolled faces.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Lean by design.</a:t>
            </a:r>
            <a:r>
              <a:rPr sz="1600" b="0">
                <a:solidFill>
                  <a:srgbClr val="8DA39B"/>
                </a:solidFill>
                <a:latin typeface="Segoe UI"/>
              </a:rPr>
              <a:t>  SQLite queue → batch S3 → purge keeps storage flat.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Swappable models.</a:t>
            </a:r>
            <a:r>
              <a:rPr sz="1600" b="0">
                <a:solidFill>
                  <a:srgbClr val="8DA39B"/>
                </a:solidFill>
                <a:latin typeface="Segoe UI"/>
              </a:rPr>
              <a:t>  update accuracy by replacing ONNX files, 8 MB headroom.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Demographic tuning.</a:t>
            </a:r>
            <a:r>
              <a:rPr sz="1600" b="0">
                <a:solidFill>
                  <a:srgbClr val="8DA39B"/>
                </a:solidFill>
                <a:latin typeface="Segoe UI"/>
              </a:rPr>
              <a:t>  on-device fine-tune on an Indian face subset (roadmap).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0E676"/>
                </a:solidFill>
                <a:latin typeface="Segoe UI"/>
              </a:rPr>
              <a:t>▸  </a:t>
            </a:r>
            <a:r>
              <a:rPr sz="1600" b="1">
                <a:solidFill>
                  <a:srgbClr val="EAF3EF"/>
                </a:solidFill>
                <a:latin typeface="Segoe UI"/>
              </a:rPr>
              <a:t>iOS device build + GPU delegate.</a:t>
            </a:r>
            <a:r>
              <a:rPr sz="1600" b="0">
                <a:solidFill>
                  <a:srgbClr val="8DA39B"/>
                </a:solidFill>
                <a:latin typeface="Segoe UI"/>
              </a:rPr>
              <a:t>  next on the path to full parity.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726A"/>
                </a:solidFill>
                <a:latin typeface="Consolas"/>
              </a:rPr>
              <a:t>OFFLINE·ID</a:t>
            </a:r>
            <a:r>
              <a:rPr sz="900" b="0">
                <a:solidFill>
                  <a:srgbClr val="5C726A"/>
                </a:solidFill>
                <a:latin typeface="Consolas"/>
              </a:rPr>
              <a:t>   NHAI HACKATHON 7.0 ·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3550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726A"/>
                </a:solidFill>
                <a:latin typeface="Consolas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E676"/>
                </a:solidFill>
                <a:latin typeface="Consolas"/>
              </a:rPr>
              <a:t>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F3EF"/>
                </a:solidFill>
                <a:latin typeface="Segoe UI"/>
              </a:rPr>
              <a:t>How OfflineID maps to the rubric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664208"/>
            <a:ext cx="640080" cy="4114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65960"/>
          <a:ext cx="10515600" cy="2871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128016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E676"/>
                          </a:solidFill>
                          <a:latin typeface="Segoe UI"/>
                        </a:rPr>
                        <a:t>Criterion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E676"/>
                          </a:solidFill>
                          <a:latin typeface="Segoe UI"/>
                        </a:rPr>
                        <a:t>Marks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0E676"/>
                          </a:solidFill>
                          <a:latin typeface="Segoe UI"/>
                        </a:rPr>
                        <a:t>Where we win</a:t>
                      </a:r>
                    </a:p>
                  </a:txBody>
                  <a:tcPr marL="109728" marR="73152" marT="27432" marB="27432" anchor="ctr">
                    <a:solidFill>
                      <a:srgbClr val="0B3D2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AF3EF"/>
                          </a:solidFill>
                          <a:latin typeface="Segoe UI"/>
                        </a:rPr>
                        <a:t>Innovation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9.1 MB edge AI · two-layer liveness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AF3EF"/>
                          </a:solidFill>
                          <a:latin typeface="Segoe UI"/>
                        </a:rPr>
                        <a:t>Feasibility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drops into Datalake 3.0 · ~50 ms · &lt; 1 s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AF3EF"/>
                          </a:solidFill>
                          <a:latin typeface="Segoe UI"/>
                        </a:rPr>
                        <a:t>Scalability &amp; Sustainability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offline queue · sync/purge · model swaps</a:t>
                      </a:r>
                    </a:p>
                  </a:txBody>
                  <a:tcPr marL="109728" marR="73152" marT="27432" marB="27432" anchor="ctr">
                    <a:solidFill>
                      <a:srgbClr val="11171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AF3EF"/>
                          </a:solidFill>
                          <a:latin typeface="Segoe UI"/>
                        </a:rPr>
                        <a:t>Presentation &amp; Documentation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8DA39B"/>
                          </a:solidFill>
                          <a:latin typeface="Consolas"/>
                        </a:rPr>
                        <a:t>source clarity · integration guide · this deck</a:t>
                      </a:r>
                    </a:p>
                  </a:txBody>
                  <a:tcPr marL="109728" marR="73152" marT="27432" marB="27432" anchor="ctr">
                    <a:solidFill>
                      <a:srgbClr val="161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E676"/>
                </a:solidFill>
                <a:latin typeface="Consolas"/>
              </a:rPr>
              <a:t>OFFLINE·ID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AF3EF"/>
                </a:solidFill>
                <a:latin typeface="Segoe UI"/>
              </a:rPr>
              <a:t>Authenticate anyone, anywhere,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AF3EF"/>
                </a:solidFill>
                <a:latin typeface="Segoe UI"/>
              </a:rPr>
              <a:t>zero network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383280"/>
            <a:ext cx="1828800" cy="4572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8DA39B"/>
                </a:solidFill>
                <a:latin typeface="Segoe UI"/>
              </a:rPr>
              <a:t>Secure · lightweight · fully offline face auth that plugs into Datalake 3.0.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C726A"/>
                </a:solidFill>
                <a:latin typeface="Consolas"/>
              </a:rPr>
              <a:t>Source   </a:t>
            </a:r>
            <a:r>
              <a:rPr sz="1300" b="0">
                <a:solidFill>
                  <a:srgbClr val="00E676"/>
                </a:solidFill>
                <a:latin typeface="Consolas"/>
              </a:rPr>
              <a:t>github.com/moneytosms/offlineid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C726A"/>
                </a:solidFill>
                <a:latin typeface="Consolas"/>
              </a:rPr>
              <a:t>Release  </a:t>
            </a:r>
            <a:r>
              <a:rPr sz="1300" b="0">
                <a:solidFill>
                  <a:srgbClr val="00E676"/>
                </a:solidFill>
                <a:latin typeface="Consolas"/>
              </a:rPr>
              <a:t>github.com/moneytosms/offlineid/releases/tag/v1.0.0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AF3EF"/>
                </a:solidFill>
                <a:latin typeface="Segoe UI"/>
              </a:rPr>
              <a:t>Thank you  ·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