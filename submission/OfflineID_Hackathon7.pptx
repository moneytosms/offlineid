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100255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298448"/>
            <a:ext cx="54864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325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Consolas"/>
              </a:rPr>
              <a:t>BIOMETRIC FIELD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F0F7FF"/>
                </a:solidFill>
                <a:latin typeface="Segoe UI"/>
              </a:rPr>
              <a:t>OFFLINE·ID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108960"/>
            <a:ext cx="237744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F0F7FF"/>
                </a:solidFill>
                <a:latin typeface="Segoe UI"/>
              </a:rPr>
              <a:t>Secure offline facial recognition &amp; liveness detection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F0F7FF"/>
                </a:solidFill>
                <a:latin typeface="Segoe UI"/>
              </a:rPr>
              <a:t>for field personnel in zero-network zones.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36592"/>
            <a:ext cx="2194560" cy="402336"/>
          </a:xfrm>
          <a:prstGeom prst="roundRect">
            <a:avLst/>
          </a:prstGeom>
          <a:noFill/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2563EB"/>
                </a:solidFill>
                <a:latin typeface="Consolas"/>
              </a:rPr>
              <a:t>100% ON-DEVICE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63824" y="4736592"/>
            <a:ext cx="1920240" cy="402336"/>
          </a:xfrm>
          <a:prstGeom prst="roundRect">
            <a:avLst/>
          </a:prstGeom>
          <a:noFill/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0891B2"/>
                </a:solidFill>
                <a:latin typeface="Consolas"/>
              </a:rPr>
              <a:t>ANDROID + 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4736592"/>
            <a:ext cx="2011680" cy="402336"/>
          </a:xfrm>
          <a:prstGeom prst="roundRect">
            <a:avLst/>
          </a:prstGeom>
          <a:noFill/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D97706"/>
                </a:solidFill>
                <a:latin typeface="Consolas"/>
              </a:rPr>
              <a:t>9.1 MB MODELS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88352" y="4736592"/>
            <a:ext cx="1828800" cy="402336"/>
          </a:xfrm>
          <a:prstGeom prst="roundRect">
            <a:avLst/>
          </a:prstGeom>
          <a:noFill/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100" b="1">
                <a:solidFill>
                  <a:srgbClr val="94A3B8"/>
                </a:solidFill>
                <a:latin typeface="Consolas"/>
              </a:rPr>
              <a:t>OPEN 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760720"/>
            <a:ext cx="320040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925312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0F7FF"/>
                </a:solidFill>
                <a:latin typeface="Segoe UI"/>
              </a:rPr>
              <a:t>NHAI Hackathon 7.0</a:t>
            </a:r>
            <a:r>
              <a:rPr sz="1300" b="0">
                <a:solidFill>
                  <a:srgbClr val="94A3B8"/>
                </a:solidFill>
                <a:latin typeface="Segoe UI"/>
              </a:rPr>
              <a:t>   ·   Datalake 3.0 integration module   ·   v1.4.0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Authenticating field staff where there is no network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792224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Zero-network sites.</a:t>
            </a:r>
            <a:r>
              <a:rPr sz="1600" b="0">
                <a:solidFill>
                  <a:srgbClr val="475569"/>
                </a:solidFill>
                <a:latin typeface="Segoe UI"/>
              </a:rPr>
              <a:t>  NHAI personnel work in remote zones; cloud face APIs simply fail offline.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Fraud risk.</a:t>
            </a:r>
            <a:r>
              <a:rPr sz="1600" b="0">
                <a:solidFill>
                  <a:srgbClr val="475569"/>
                </a:solidFill>
                <a:latin typeface="Segoe UI"/>
              </a:rPr>
              <a:t>  Photos and phone-screen replays let people fake attendance.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Constrained hardware.</a:t>
            </a:r>
            <a:r>
              <a:rPr sz="1600" b="0">
                <a:solidFill>
                  <a:srgbClr val="475569"/>
                </a:solidFill>
                <a:latin typeface="Segoe UI"/>
              </a:rPr>
              <a:t>  Mid-range phones: 3 GB RAM, Android 8+ / iOS 12+, no GPU.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Hard targets.</a:t>
            </a:r>
            <a:r>
              <a:rPr sz="1600" b="0">
                <a:solidFill>
                  <a:srgbClr val="475569"/>
                </a:solidFill>
                <a:latin typeface="Segoe UI"/>
              </a:rPr>
              <a:t>  &lt; 1 second, &gt; 95% accuracy, diverse Indian faces, harsh outdoor 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Must fit Datalake 3.0.</a:t>
            </a:r>
            <a:r>
              <a:rPr sz="1600" b="0">
                <a:solidFill>
                  <a:srgbClr val="475569"/>
                </a:solidFill>
                <a:latin typeface="Segoe UI"/>
              </a:rPr>
              <a:t>  Ship as a React Native module, not a separate app.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10912"/>
            <a:ext cx="10515600" cy="896112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5010912"/>
            <a:ext cx="54864" cy="8961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5138928"/>
            <a:ext cx="100584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2563EB"/>
                </a:solidFill>
                <a:latin typeface="Segoe UI"/>
              </a:rPr>
              <a:t>“</a:t>
            </a:r>
            <a:r>
              <a:rPr sz="1450" b="0">
                <a:solidFill>
                  <a:srgbClr val="0F172A"/>
                </a:solidFill>
                <a:latin typeface="Segoe UI"/>
              </a:rPr>
              <a:t>How do we authenticate field personnel securely, fully offline, on standard phones, and integrate it into a React Native app on Android and iOS?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OUR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A fully on-device authentication module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792224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0F172A"/>
                </a:solidFill>
                <a:latin typeface="Segoe UI"/>
              </a:rPr>
              <a:t>Detect → prove liveness → recognise in </a:t>
            </a:r>
            <a:r>
              <a:rPr sz="1800" b="1">
                <a:solidFill>
                  <a:srgbClr val="2563EB"/>
                </a:solidFill>
                <a:latin typeface="Consolas"/>
              </a:rPr>
              <a:t>~51 ms</a:t>
            </a:r>
            <a:r>
              <a:rPr sz="1800" b="0">
                <a:solidFill>
                  <a:srgbClr val="0F172A"/>
                </a:solidFill>
                <a:latin typeface="Segoe UI"/>
              </a:rPr>
              <a:t>, no internet, then </a:t>
            </a:r>
            <a:r>
              <a:rPr sz="1800" b="1">
                <a:solidFill>
                  <a:srgbClr val="1E3A5F"/>
                </a:solidFill>
                <a:latin typeface="Segoe UI"/>
              </a:rPr>
              <a:t>sync-and-purge</a:t>
            </a:r>
            <a:r>
              <a:rPr sz="1800" b="0">
                <a:solidFill>
                  <a:srgbClr val="0F172A"/>
                </a:solidFill>
                <a:latin typeface="Segoe UI"/>
              </a:rPr>
              <a:t> to AWS when back online.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090672"/>
            <a:ext cx="2542032" cy="235915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24128" y="3291839"/>
            <a:ext cx="237744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" y="3419856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563EB"/>
                </a:solidFill>
                <a:latin typeface="Consolas"/>
              </a:rPr>
              <a:t>OFFLINE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Recognition + liveness run
entirely on the device.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3" y="3090672"/>
            <a:ext cx="2542032" cy="235915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85031" y="3291839"/>
            <a:ext cx="237744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85031" y="3419856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0891B2"/>
                </a:solidFill>
                <a:latin typeface="Consolas"/>
              </a:rPr>
              <a:t>ANTI-SPOOF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Passive FASNet + active
gesture defeat photos.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090672"/>
            <a:ext cx="2542032" cy="235915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45936" y="3291839"/>
            <a:ext cx="237744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5936" y="3419856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E3A5F"/>
                </a:solidFill>
                <a:latin typeface="Consolas"/>
              </a:rPr>
              <a:t>ENCRYPTED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AES-256-GCM faceprints;
no raw images stored.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05672" y="3090672"/>
            <a:ext cx="2542032" cy="235915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06840" y="3291839"/>
            <a:ext cx="237744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06840" y="3419856"/>
            <a:ext cx="21762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D97706"/>
                </a:solidFill>
                <a:latin typeface="Consolas"/>
              </a:rPr>
              <a:t>SYNC &amp; PURGE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Presigned S3 upload, then
local records deleted.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THE AI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Camera still to attendance record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810512"/>
            <a:ext cx="10515600" cy="51206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1901952"/>
            <a:ext cx="54864" cy="3291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2416" y="1883664"/>
            <a:ext cx="101132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1 · Detect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SCRFD-500M → bounding box + 5 landmarks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340864"/>
            <a:ext cx="292608" cy="237744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546604"/>
            <a:ext cx="10515600" cy="51206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2638044"/>
            <a:ext cx="54864" cy="32918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2416" y="2619756"/>
            <a:ext cx="101132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2 · Passive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FASNet ×2 (scale 2.7 / 4.0) anti-spoof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076956"/>
            <a:ext cx="292608" cy="237744"/>
          </a:xfrm>
          <a:prstGeom prst="down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3282696"/>
            <a:ext cx="10515600" cy="51206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3374136"/>
            <a:ext cx="54864" cy="32918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3355848"/>
            <a:ext cx="101132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3 · Active liveness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ML Kit gesture: blink / smile / turn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3813048"/>
            <a:ext cx="292608" cy="237744"/>
          </a:xfrm>
          <a:prstGeom prst="down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4018788"/>
            <a:ext cx="10515600" cy="51206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" y="4110228"/>
            <a:ext cx="54864" cy="3291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2416" y="4091940"/>
            <a:ext cx="101132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4 · Recognise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ArcFace align → MobileFaceNet INT8 → 512-d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4549140"/>
            <a:ext cx="292608" cy="237744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2960" y="4754880"/>
            <a:ext cx="10515600" cy="51206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" y="4846320"/>
            <a:ext cx="54864" cy="3291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2416" y="4828032"/>
            <a:ext cx="101132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5 · Match &amp; 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cosine vs enrolled → encrypted attendance row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34456" y="5285231"/>
            <a:ext cx="292608" cy="237744"/>
          </a:xfrm>
          <a:prstGeom prst="downArrow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2960" y="5490972"/>
            <a:ext cx="10515600" cy="512064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22960" y="5582412"/>
            <a:ext cx="54864" cy="32918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2416" y="5564124"/>
            <a:ext cx="101132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6 · Sync &amp; purge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reconnect → presigned S3 PUT → local delete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INNOVATION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Edge AI that earns its footprint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29384"/>
            <a:ext cx="3429000" cy="3246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51560" y="2176272"/>
            <a:ext cx="402336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2304288"/>
            <a:ext cx="2971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E3A5F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onsolas"/>
              </a:rPr>
              <a:t>TOTAL MODEL BUNDLE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39312"/>
            <a:ext cx="2971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INT8-quantised MobileFaceNet keeps the whole
bundle under half the 20 MB budget.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16552" y="1929384"/>
            <a:ext cx="3429000" cy="3246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45152" y="2176272"/>
            <a:ext cx="402336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45152" y="2304288"/>
            <a:ext cx="2971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E3A5F"/>
                </a:solidFill>
                <a:latin typeface="Segoe UI"/>
              </a:rPr>
              <a:t>2 layers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onsolas"/>
              </a:rPr>
              <a:t>OF LIVENESS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3639312"/>
            <a:ext cx="2971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Passive FASNet anti-spoof PLUS a randomised
active gesture sequence.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1929384"/>
            <a:ext cx="3429000" cy="3246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38744" y="2176272"/>
            <a:ext cx="402336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38744" y="2304288"/>
            <a:ext cx="2971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1E3A5F"/>
                </a:solidFill>
                <a:latin typeface="Segoe UI"/>
              </a:rPr>
              <a:t>0 cloud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Consolas"/>
              </a:rPr>
              <a:t>CALLS FOR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3639312"/>
            <a:ext cx="2971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Segoe UI"/>
              </a:rPr>
              <a:t>Detection, liveness and matching all run
on-device; works in airplane mode.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MODEL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Four open-source ONNX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1901952"/>
          <a:ext cx="105156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0F7FF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0F7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0F7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0F7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Detect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SCRFD-500M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face box + 5 landmarks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Recognise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MobileFaceNet INT8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512-d ArcFace embedding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Liveness A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MiniFASNet V2 (2.7)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Liveness B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MiniFASNet V1SE (4.0)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passive anti-spoof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ONNX Runtime Mobile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~3.5 MB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CPU / XNNPACK / NNAPI / CoreML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49554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All MIT-licensed. </a:t>
            </a:r>
            <a:r>
              <a:rPr sz="1400" b="0">
                <a:solidFill>
                  <a:srgbClr val="475569"/>
                </a:solidFill>
                <a:latin typeface="Segoe UI"/>
              </a:rPr>
              <a:t>Models 9.1 MB + ONNX Runtime ≈ 12.6 MB added to the Datalake APK, well inside the 20 MB brief budget.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07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LIVENESS · ANTI-SPOOF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Two independent layers, both must pass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01952"/>
            <a:ext cx="5166360" cy="3246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2084832"/>
            <a:ext cx="256032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2212848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891B2"/>
                </a:solidFill>
                <a:latin typeface="Consolas"/>
              </a:rPr>
              <a:t>PASSIVE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24912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891B2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FASNet two-scale crops (2.7 + 4.0)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891B2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Softmax P(real) &gt; 0.6 to pass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891B2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Blocks printed photos, screens, 2D masks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0891B2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Runs in a few milliseconds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01952"/>
            <a:ext cx="5166360" cy="3246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73368" y="2084832"/>
            <a:ext cx="256032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212848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Consolas"/>
              </a:rPr>
              <a:t>ACTIVE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24912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Randomised gesture in a 5 s window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Blink (EAR) · turn (yaw ±20°) · smile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On-device ML Kit, no network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Ordered sequence defeats replays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376672"/>
            <a:ext cx="10515600" cy="585216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5376672"/>
            <a:ext cx="1005840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E3A5F"/>
                </a:solidFill>
                <a:latin typeface="Consolas"/>
              </a:rPr>
              <a:t>GATE   </a:t>
            </a:r>
            <a:r>
              <a:rPr sz="1400" b="0">
                <a:solidFill>
                  <a:srgbClr val="0F172A"/>
                </a:solidFill>
                <a:latin typeface="Segoe UI"/>
              </a:rPr>
              <a:t>recognition only runs after both liveness layers pass.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08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Privacy-first by construction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83664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Encrypted at rest.</a:t>
            </a:r>
            <a:r>
              <a:rPr sz="1600" b="0">
                <a:solidFill>
                  <a:srgbClr val="475569"/>
                </a:solidFill>
                <a:latin typeface="Segoe UI"/>
              </a:rPr>
              <a:t>  Faceprints sealed with AES-256-GCM; key in Android Keystore.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No raw images.</a:t>
            </a:r>
            <a:r>
              <a:rPr sz="1600" b="0">
                <a:solidFill>
                  <a:srgbClr val="475569"/>
                </a:solidFill>
                <a:latin typeface="Segoe UI"/>
              </a:rPr>
              <a:t>  Only 512-d embeddings stored, never photos of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No cloud credentials.</a:t>
            </a:r>
            <a:r>
              <a:rPr sz="1600" b="0">
                <a:solidFill>
                  <a:srgbClr val="475569"/>
                </a:solidFill>
                <a:latin typeface="Segoe UI"/>
              </a:rPr>
              <a:t>  Sync uses short-TTL presigned S3 URLs; device holds no AWS keys.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Abuse resistant.</a:t>
            </a:r>
            <a:r>
              <a:rPr sz="1600" b="0">
                <a:solidFill>
                  <a:srgbClr val="475569"/>
                </a:solidFill>
                <a:latin typeface="Segoe UI"/>
              </a:rPr>
              <a:t>  30-second lockout after repeated failed attempts.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Purge on sync.</a:t>
            </a:r>
            <a:r>
              <a:rPr sz="1600" b="0">
                <a:solidFill>
                  <a:srgbClr val="475569"/>
                </a:solidFill>
                <a:latin typeface="Segoe UI"/>
              </a:rPr>
              <a:t>  Attendance rows deleted locally once upload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09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OFFLINE-FIRST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Works fully offline, reconciles when online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901952"/>
            <a:ext cx="5166360" cy="3154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2084832"/>
            <a:ext cx="256032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2212848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Consolas"/>
              </a:rPr>
              <a:t>ON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06624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SQLite: face_embeddings (encrypted, permanent)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SQLite: attendance_log (ephemeral queue)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Enrol · authenticate · log — all offline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901952"/>
            <a:ext cx="5166360" cy="3154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73368" y="2084832"/>
            <a:ext cx="25603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212848"/>
            <a:ext cx="47640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06"/>
                </a:solidFill>
                <a:latin typeface="Consolas"/>
              </a:rPr>
              <a:t>SYNC &amp; PURGE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706624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D97706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NetInfo detects reconnect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D97706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Batch ≤ 10 → presigned S3 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D97706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On 200 → delete local row (purge)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>
                <a:solidFill>
                  <a:srgbClr val="D97706"/>
                </a:solidFill>
                <a:latin typeface="Segoe UI"/>
              </a:rPr>
              <a:t>›  </a:t>
            </a:r>
            <a:r>
              <a:rPr sz="1350" b="0">
                <a:solidFill>
                  <a:srgbClr val="0F172A"/>
                </a:solidFill>
                <a:latin typeface="Segoe UI"/>
              </a:rPr>
              <a:t>Exponential backoff; 403 → refresh URL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303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Devices stay lean; the server becomes the single source of truth.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10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PERFORMANCE · BENCHMARKS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Measured against every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883664"/>
            <a:ext cx="2542032" cy="1783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2048256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E3A5F"/>
                </a:solidFill>
                <a:latin typeface="Segoe UI"/>
              </a:rPr>
              <a:t>51 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HOST-CPU PIPELINE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94A3B8"/>
                </a:solidFill>
                <a:latin typeface="Consolas"/>
              </a:rPr>
              <a:t>target &lt; 1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1883664"/>
            <a:ext cx="2542032" cy="1783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1" y="2048256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E3A5F"/>
                </a:solidFill>
                <a:latin typeface="Segoe UI"/>
              </a:rPr>
              <a:t>9.1 MB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MODEL BUNDLE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94A3B8"/>
                </a:solidFill>
                <a:latin typeface="Consolas"/>
              </a:rPr>
              <a:t>cap 20 MB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4768" y="1883664"/>
            <a:ext cx="2542032" cy="1783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5936" y="2048256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E3A5F"/>
                </a:solidFill>
                <a:latin typeface="Segoe UI"/>
              </a:rPr>
              <a:t>99.5%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LFW ACCURACY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94A3B8"/>
                </a:solidFill>
                <a:latin typeface="Consolas"/>
              </a:rPr>
              <a:t>target &gt; 95%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1883664"/>
            <a:ext cx="2542032" cy="17830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06840" y="2048256"/>
            <a:ext cx="21762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E3A5F"/>
                </a:solidFill>
                <a:latin typeface="Segoe UI"/>
              </a:rPr>
              <a:t>100%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OFFLINE CAPABLE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94A3B8"/>
                </a:solidFill>
                <a:latin typeface="Consolas"/>
              </a:rPr>
              <a:t>zero network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877056"/>
          <a:ext cx="10515600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0F7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0F7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0F7FF"/>
                          </a:solidFill>
                          <a:latin typeface="Segoe UI"/>
                        </a:rPr>
                        <a:t>Avg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0F7FF"/>
                          </a:solidFill>
                          <a:latin typeface="Segoe UI"/>
                        </a:rPr>
                        <a:t>P95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E3A5F"/>
                          </a:solidFill>
                          <a:latin typeface="Segoe UI"/>
                        </a:rPr>
                        <a:t>SCRFD-500M (detect)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2.41 MB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6.1 ms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7.5 ms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E3A5F"/>
                          </a:solidFill>
                          <a:latin typeface="Segoe UI"/>
                        </a:rPr>
                        <a:t>MobileFaceNet INT8 (embed)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3.35 MB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43.6 ms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49.5 ms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E3A5F"/>
                          </a:solidFill>
                          <a:latin typeface="Segoe UI"/>
                        </a:rPr>
                        <a:t>MiniFASNet 2.7 / 4.0 (liveness)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1.66 MB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1.5 ms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475569"/>
                          </a:solidFill>
                          <a:latin typeface="Consolas"/>
                        </a:rPr>
                        <a:t>2.1 ms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22960" y="5614416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Host CPU · ONNX Runtime.  Pipeline = detect + 2× liveness + embed; align &amp; cosine &lt; 10 ms for end-to-end.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App footprint on Datalake ≈ 12.6 MB (9.1 MB models + 3.5 MB runtime).  INT8 vs FP32 cosine &gt; 0.99 on aligned faces.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React Native UI over a native ONNX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1837943"/>
            <a:ext cx="10515600" cy="67665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1929384"/>
            <a:ext cx="54864" cy="4937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2416" y="1911095"/>
            <a:ext cx="101132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UI · React Native + TypeScript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Scan · Enrol · People · Sync · System screens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34456" y="2496312"/>
            <a:ext cx="292608" cy="237744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715768"/>
            <a:ext cx="10515600" cy="67665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2807208"/>
            <a:ext cx="54864" cy="49377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2416" y="2788920"/>
            <a:ext cx="101132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Orchestration · useFaceAuth hook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state machine: detect → liveness → recognise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34456" y="3374136"/>
            <a:ext cx="292608" cy="237744"/>
          </a:xfrm>
          <a:prstGeom prst="down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22960" y="3593591"/>
            <a:ext cx="10515600" cy="67665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" y="3685031"/>
            <a:ext cx="54864" cy="49377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3666744"/>
            <a:ext cx="101132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Services (JS)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FaceEngine bridge · Liveness · Stores · Sync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34456" y="4251960"/>
            <a:ext cx="292608" cy="237744"/>
          </a:xfrm>
          <a:prstGeom prst="down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22960" y="4471416"/>
            <a:ext cx="10515600" cy="67665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2960" y="4562855"/>
            <a:ext cx="54864" cy="49377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2416" y="4544568"/>
            <a:ext cx="101132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Native engine · Kotlin (Android) / Swift (iOS)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ONNX Runtime: detect · liveness · embed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5934456" y="5129784"/>
            <a:ext cx="292608" cy="237744"/>
          </a:xfrm>
          <a:prstGeom prst="downArrow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22960" y="5349240"/>
            <a:ext cx="10515600" cy="676656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960" y="5440679"/>
            <a:ext cx="54864" cy="4937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2416" y="5422392"/>
            <a:ext cx="101132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3A5F"/>
                </a:solidFill>
                <a:latin typeface="Segoe UI"/>
              </a:rPr>
              <a:t>Storage · SQLite + Keystore + AWS S3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75569"/>
                </a:solidFill>
                <a:latin typeface="Consolas"/>
              </a:rPr>
              <a:t>encrypted faceprints · attendance queue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FEASIBILITY · 30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Drops into Datalake 3.0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37943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550" b="1">
                <a:solidFill>
                  <a:srgbClr val="0F172A"/>
                </a:solidFill>
                <a:latin typeface="Segoe UI"/>
              </a:rPr>
              <a:t>Register one native package.</a:t>
            </a:r>
            <a:r>
              <a:rPr sz="1550" b="0">
                <a:solidFill>
                  <a:srgbClr val="475569"/>
                </a:solidFill>
                <a:latin typeface="Segoe UI"/>
              </a:rPr>
              <a:t>  add FaceEnginePackage() (Android) / link the Swift module (iOS).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550" b="1">
                <a:solidFill>
                  <a:srgbClr val="0F172A"/>
                </a:solidFill>
                <a:latin typeface="Segoe UI"/>
              </a:rPr>
              <a:t>Add the ONNX dependency + 4 model assets.</a:t>
            </a:r>
            <a:r>
              <a:rPr sz="1550" b="0">
                <a:solidFill>
                  <a:srgbClr val="475569"/>
                </a:solidFill>
                <a:latin typeface="Segoe UI"/>
              </a:rPr>
              <a:t>  ≈ 12.6 MB total.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550" b="1">
                <a:solidFill>
                  <a:srgbClr val="0F172A"/>
                </a:solidFill>
                <a:latin typeface="Segoe UI"/>
              </a:rPr>
              <a:t>Import the screens &amp; services.</a:t>
            </a:r>
            <a:r>
              <a:rPr sz="1550" b="0">
                <a:solidFill>
                  <a:srgbClr val="475569"/>
                </a:solidFill>
                <a:latin typeface="Segoe UI"/>
              </a:rPr>
              <a:t>  Auth / Enrol / Sync mount in the existing navigator.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550" b="1">
                <a:solidFill>
                  <a:srgbClr val="0F172A"/>
                </a:solidFill>
                <a:latin typeface="Segoe UI"/>
              </a:rPr>
              <a:t>Point SYNC_BASE_URL at a presigned endpoint.</a:t>
            </a:r>
            <a:r>
              <a:rPr sz="1550" b="0">
                <a:solidFill>
                  <a:srgbClr val="475569"/>
                </a:solidFill>
                <a:latin typeface="Segoe UI"/>
              </a:rPr>
              <a:t>  the only backend touchpoint.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2563EB"/>
                </a:solidFill>
                <a:latin typeface="Segoe UI"/>
              </a:rPr>
              <a:t>›  </a:t>
            </a:r>
            <a:r>
              <a:rPr sz="1550" b="1">
                <a:solidFill>
                  <a:srgbClr val="0F172A"/>
                </a:solidFill>
                <a:latin typeface="Segoe UI"/>
              </a:rPr>
              <a:t>Zero changes to the offline auth path.</a:t>
            </a:r>
            <a:r>
              <a:rPr sz="1550" b="0">
                <a:solidFill>
                  <a:srgbClr val="475569"/>
                </a:solidFill>
                <a:latin typeface="Segoe UI"/>
              </a:rPr>
              <a:t>  no other Datalake backend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974336"/>
            <a:ext cx="10515600" cy="932688"/>
          </a:xfrm>
          <a:prstGeom prst="roundRect">
            <a:avLst/>
          </a:prstGeom>
          <a:solidFill>
            <a:srgbClr val="EAF1FB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4974336"/>
            <a:ext cx="54864" cy="9326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5084064"/>
            <a:ext cx="10058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Segoe UI"/>
              </a:rPr>
              <a:t>iOS engine is written </a:t>
            </a:r>
            <a:r>
              <a:rPr sz="1400" b="1">
                <a:solidFill>
                  <a:srgbClr val="2563EB"/>
                </a:solidFill>
                <a:latin typeface="Consolas"/>
              </a:rPr>
              <a:t>(ios/FaceEngine/ — a 1:1 Swift port, same models &amp; math)</a:t>
            </a:r>
            <a:r>
              <a:rPr sz="1400" b="0">
                <a:solidFill>
                  <a:srgbClr val="0F172A"/>
                </a:solidFill>
                <a:latin typeface="Segoe UI"/>
              </a:rPr>
              <a:t>; remaining work is one-time Xcode build wiring on a Mac.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ENGINEERING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Open-source, typed, tested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83664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Open-source only.</a:t>
            </a:r>
            <a:r>
              <a:rPr sz="1600" b="0">
                <a:solidFill>
                  <a:srgbClr val="475569"/>
                </a:solidFill>
                <a:latin typeface="Segoe UI"/>
              </a:rPr>
              <a:t>  MIT / Apache stack, no paid licences, full source shared.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TypeScript strict.</a:t>
            </a:r>
            <a:r>
              <a:rPr sz="1600" b="0">
                <a:solidFill>
                  <a:srgbClr val="475569"/>
                </a:solidFill>
                <a:latin typeface="Segoe UI"/>
              </a:rPr>
              <a:t>  typecheck clean; 15 unit tests passing.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Standalone offline APK.</a:t>
            </a:r>
            <a:r>
              <a:rPr sz="1600" b="0">
                <a:solidFill>
                  <a:srgbClr val="475569"/>
                </a:solidFill>
                <a:latin typeface="Segoe UI"/>
              </a:rPr>
              <a:t>  release build embeds JS; runs in airplane mode, no Metro.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Reproducible models.</a:t>
            </a:r>
            <a:r>
              <a:rPr sz="1600" b="0">
                <a:solidFill>
                  <a:srgbClr val="475569"/>
                </a:solidFill>
                <a:latin typeface="Segoe UI"/>
              </a:rPr>
              <a:t>  Python export + validation scripts in the repo.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Documented.</a:t>
            </a:r>
            <a:r>
              <a:rPr sz="1600" b="0">
                <a:solidFill>
                  <a:srgbClr val="475569"/>
                </a:solidFill>
                <a:latin typeface="Segoe UI"/>
              </a:rPr>
              <a:t>  architecture, model pipeline, benchmarks, Datalake integration guide.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SCALABILITY · SUSTAINABILITY · 20 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Built to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883664"/>
            <a:ext cx="1060704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Scales to N users.</a:t>
            </a:r>
            <a:r>
              <a:rPr sz="1600" b="0">
                <a:solidFill>
                  <a:srgbClr val="475569"/>
                </a:solidFill>
                <a:latin typeface="Segoe UI"/>
              </a:rPr>
              <a:t>  cosine match &lt; 5 ms at 500 enrolled faces.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Lean by design.</a:t>
            </a:r>
            <a:r>
              <a:rPr sz="1600" b="0">
                <a:solidFill>
                  <a:srgbClr val="475569"/>
                </a:solidFill>
                <a:latin typeface="Segoe UI"/>
              </a:rPr>
              <a:t>  SQLite queue → batch S3 → purge keeps device storage flat.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Swappable models.</a:t>
            </a:r>
            <a:r>
              <a:rPr sz="1600" b="0">
                <a:solidFill>
                  <a:srgbClr val="475569"/>
                </a:solidFill>
                <a:latin typeface="Segoe UI"/>
              </a:rPr>
              <a:t>  update accuracy by replacing ONNX files; 8 MB headroom remains.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Demographic tuning.</a:t>
            </a:r>
            <a:r>
              <a:rPr sz="1600" b="0">
                <a:solidFill>
                  <a:srgbClr val="475569"/>
                </a:solidFill>
                <a:latin typeface="Segoe UI"/>
              </a:rPr>
              <a:t>  on-device fine-tune on an Indian face subset (roadmap).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›  </a:t>
            </a:r>
            <a:r>
              <a:rPr sz="1600" b="1">
                <a:solidFill>
                  <a:srgbClr val="0F172A"/>
                </a:solidFill>
                <a:latin typeface="Segoe UI"/>
              </a:rPr>
              <a:t>iOS device build + GPU delegate.</a:t>
            </a:r>
            <a:r>
              <a:rPr sz="1600" b="0">
                <a:solidFill>
                  <a:srgbClr val="475569"/>
                </a:solidFill>
                <a:latin typeface="Segoe UI"/>
              </a:rPr>
              <a:t>  next step on the path to full parity.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81967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6272784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6373368"/>
            <a:ext cx="54864" cy="137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87552" y="6345936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94A3B8"/>
                </a:solidFill>
                <a:latin typeface="Consolas"/>
              </a:rPr>
              <a:t>OFFLINE·ID</a:t>
            </a:r>
            <a:r>
              <a:rPr sz="900" b="0">
                <a:solidFill>
                  <a:srgbClr val="94A3B8"/>
                </a:solidFill>
                <a:latin typeface="Consolas"/>
              </a:rPr>
              <a:t>   ·   NHAI HACKATHON 7.0   ·   DATALAKE 3.0 INTEGRATION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34593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15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10332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563EB"/>
                </a:solidFill>
                <a:latin typeface="Consolas"/>
              </a:rPr>
              <a:t>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841248"/>
            <a:ext cx="10607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E3A5F"/>
                </a:solidFill>
                <a:latin typeface="Segoe UI"/>
              </a:rPr>
              <a:t>How OfflineID maps to the rubric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1481328"/>
            <a:ext cx="50292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1627632"/>
            <a:ext cx="10515600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22960" y="2020824"/>
          <a:ext cx="1051560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0F7FF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0F7FF"/>
                          </a:solidFill>
                          <a:latin typeface="Segoe UI"/>
                        </a:rPr>
                        <a:t>Marks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0F7FF"/>
                          </a:solidFill>
                          <a:latin typeface="Segoe UI"/>
                        </a:rPr>
                        <a:t>Where we win</a:t>
                      </a:r>
                    </a:p>
                  </a:txBody>
                  <a:tcPr marL="128016" marR="73152" marT="18288" marB="18288" anchor="ctr"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Innovation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9.1 MB edge AI · two-layer liveness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Feasibility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30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drops into Datalake 3.0 · ~51 ms · &lt; 1 s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Scalability &amp; Sustainability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offline queue · sync/purge · model swaps</a:t>
                      </a:r>
                    </a:p>
                  </a:txBody>
                  <a:tcPr marL="128016" marR="73152" marT="18288" marB="1828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E3A5F"/>
                          </a:solidFill>
                          <a:latin typeface="Segoe UI"/>
                        </a:rPr>
                        <a:t>Presentation &amp; Documentation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475569"/>
                          </a:solidFill>
                          <a:latin typeface="Consolas"/>
                        </a:rPr>
                        <a:t>source clarity · integration guide · this deck</a:t>
                      </a:r>
                    </a:p>
                  </a:txBody>
                  <a:tcPr marL="128016" marR="73152" marT="18288" marB="18288" anchor="ctr"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540410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Open-source · lightweight · fully offline · ready for Datalake 3.0.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2100255" y="0"/>
            <a:ext cx="9144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81328"/>
            <a:ext cx="54864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087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63EB"/>
                </a:solidFill>
                <a:latin typeface="Consolas"/>
              </a:rPr>
              <a:t>OFFLINE·ID   ·   v1.4.0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0F7FF"/>
                </a:solidFill>
                <a:latin typeface="Segoe UI"/>
              </a:rPr>
              <a:t>Authenticate anyone, anywhere,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0F7FF"/>
                </a:solidFill>
                <a:latin typeface="Segoe UI"/>
              </a:rPr>
              <a:t>zero network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364992"/>
            <a:ext cx="201168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39312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F0F7FF"/>
                </a:solidFill>
                <a:latin typeface="Segoe UI"/>
              </a:rPr>
              <a:t>Secure · lightweight · fully offline face auth that plugs into Datalake 3.0.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90288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Consolas"/>
              </a:rPr>
              <a:t>Source     </a:t>
            </a:r>
            <a:r>
              <a:rPr sz="1300" b="0">
                <a:solidFill>
                  <a:srgbClr val="2563EB"/>
                </a:solidFill>
                <a:latin typeface="Consolas"/>
              </a:rPr>
              <a:t>github.com/moneytosms/offlineid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Consolas"/>
              </a:rPr>
              <a:t>Release    </a:t>
            </a:r>
            <a:r>
              <a:rPr sz="1300" b="0">
                <a:solidFill>
                  <a:srgbClr val="2563EB"/>
                </a:solidFill>
                <a:latin typeface="Consolas"/>
              </a:rPr>
              <a:t>github.com/moneytosms/offlineid/releases/tag/v1.4.0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8271" y="5520744"/>
            <a:ext cx="118597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dirty="0">
                <a:solidFill>
                  <a:srgbClr val="F0F7FF"/>
                </a:solidFill>
                <a:latin typeface="Segoe UI"/>
              </a:rPr>
              <a:t>Thank you   </a:t>
            </a:r>
            <a:br>
              <a:rPr lang="en-IN" sz="1500" b="1" dirty="0">
                <a:solidFill>
                  <a:srgbClr val="F0F7FF"/>
                </a:solidFill>
                <a:latin typeface="Segoe UI"/>
              </a:rPr>
            </a:br>
            <a:endParaRPr sz="1500" b="1" dirty="0">
              <a:solidFill>
                <a:srgbClr val="F0F7FF"/>
              </a:solidFill>
              <a:latin typeface="Segoe U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8C7F64-1EC6-BC5B-BFDC-95CC011D6F9E}"/>
              </a:ext>
            </a:extLst>
          </p:cNvPr>
          <p:cNvSpPr txBox="1"/>
          <p:nvPr/>
        </p:nvSpPr>
        <p:spPr>
          <a:xfrm>
            <a:off x="8671712" y="1484414"/>
            <a:ext cx="2831440" cy="164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IN" sz="1400" dirty="0">
                <a:solidFill>
                  <a:srgbClr val="F0F7FF"/>
                </a:solidFill>
                <a:latin typeface="Segoe UI"/>
              </a:rPr>
              <a:t>Submitted By: </a:t>
            </a:r>
            <a:r>
              <a:rPr lang="en-IN" sz="1400" b="1" dirty="0">
                <a:solidFill>
                  <a:srgbClr val="F0F7FF"/>
                </a:solidFill>
                <a:latin typeface="Segoe UI"/>
              </a:rPr>
              <a:t>Team </a:t>
            </a:r>
            <a:r>
              <a:rPr lang="en-IN" sz="1400" b="1" i="1" dirty="0">
                <a:solidFill>
                  <a:srgbClr val="F0F7FF"/>
                </a:solidFill>
                <a:latin typeface="Segoe UI"/>
              </a:rPr>
              <a:t>Optional</a:t>
            </a:r>
          </a:p>
          <a:p>
            <a:pPr>
              <a:spcAft>
                <a:spcPts val="400"/>
              </a:spcAft>
            </a:pPr>
            <a:r>
              <a:rPr lang="en-IN" sz="1400" dirty="0">
                <a:solidFill>
                  <a:srgbClr val="F0F7FF"/>
                </a:solidFill>
                <a:latin typeface="Segoe UI"/>
              </a:rPr>
              <a:t>Srimoneyshankar Ajith	        </a:t>
            </a:r>
          </a:p>
          <a:p>
            <a:pPr>
              <a:spcAft>
                <a:spcPts val="400"/>
              </a:spcAft>
            </a:pPr>
            <a:r>
              <a:rPr lang="en-IN" sz="1400" dirty="0">
                <a:solidFill>
                  <a:srgbClr val="F0F7FF"/>
                </a:solidFill>
                <a:latin typeface="Segoe UI"/>
              </a:rPr>
              <a:t>Bharadwaj B Chand                </a:t>
            </a:r>
          </a:p>
          <a:p>
            <a:pPr>
              <a:spcAft>
                <a:spcPts val="400"/>
              </a:spcAft>
            </a:pPr>
            <a:r>
              <a:rPr lang="en-IN" sz="1400" dirty="0">
                <a:solidFill>
                  <a:srgbClr val="F0F7FF"/>
                </a:solidFill>
                <a:latin typeface="Segoe UI"/>
              </a:rPr>
              <a:t>Akshay V S </a:t>
            </a:r>
          </a:p>
          <a:p>
            <a:pPr>
              <a:spcAft>
                <a:spcPts val="400"/>
              </a:spcAft>
            </a:pPr>
            <a:r>
              <a:rPr lang="en-IN" sz="1400" dirty="0">
                <a:solidFill>
                  <a:srgbClr val="F0F7FF"/>
                </a:solidFill>
                <a:latin typeface="Segoe UI"/>
              </a:rPr>
              <a:t>Nidhi Rakesh</a:t>
            </a:r>
          </a:p>
          <a:p>
            <a:endParaRPr lang="en-I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1584</Words>
  <Application>Microsoft Office PowerPoint</Application>
  <PresentationFormat>Widescreen</PresentationFormat>
  <Paragraphs>236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Srimoneyshankar Ajith</cp:lastModifiedBy>
  <cp:revision>2</cp:revision>
  <dcterms:created xsi:type="dcterms:W3CDTF">2013-01-27T09:14:16Z</dcterms:created>
  <dcterms:modified xsi:type="dcterms:W3CDTF">2026-06-03T06:47:43Z</dcterms:modified>
  <cp:category/>
</cp:coreProperties>
</file>