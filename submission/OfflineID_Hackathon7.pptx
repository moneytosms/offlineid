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185855" y="6748272"/>
            <a:ext cx="1005840" cy="109728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2081967" y="5852160"/>
            <a:ext cx="109728" cy="100584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325880"/>
            <a:ext cx="73152" cy="310896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1353312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00E676"/>
                </a:solidFill>
                <a:latin typeface="Consolas"/>
              </a:rPr>
              <a:t>BIOMETRIC FIELD TERMINAL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28800"/>
            <a:ext cx="109728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600" b="1">
                <a:solidFill>
                  <a:srgbClr val="EAF3EF"/>
                </a:solidFill>
                <a:latin typeface="Segoe UI"/>
              </a:rPr>
              <a:t>OFFLINE·ID</a:t>
            </a:r>
          </a:p>
        </p:txBody>
      </p:sp>
      <p:sp>
        <p:nvSpPr>
          <p:cNvPr id="9" name="Rectangle 8"/>
          <p:cNvSpPr/>
          <p:nvPr/>
        </p:nvSpPr>
        <p:spPr>
          <a:xfrm>
            <a:off x="841248" y="3154680"/>
            <a:ext cx="2194560" cy="54864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38328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0">
                <a:solidFill>
                  <a:srgbClr val="8DA39B"/>
                </a:solidFill>
                <a:latin typeface="Segoe UI"/>
              </a:rPr>
              <a:t>Secure offline facial recognition &amp; liveness detection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0">
                <a:solidFill>
                  <a:srgbClr val="8DA39B"/>
                </a:solidFill>
                <a:latin typeface="Segoe UI"/>
              </a:rPr>
              <a:t>for field personnel in zero-network zones.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754880"/>
            <a:ext cx="2194560" cy="402336"/>
          </a:xfrm>
          <a:prstGeom prst="roundRect">
            <a:avLst/>
          </a:prstGeom>
          <a:noFill/>
          <a:ln w="15875">
            <a:solidFill>
              <a:srgbClr val="00E6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00E676"/>
                </a:solidFill>
                <a:latin typeface="Consolas"/>
              </a:rPr>
              <a:t>100% ON-DEVICE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54680" y="4754880"/>
            <a:ext cx="1920240" cy="402336"/>
          </a:xfrm>
          <a:prstGeom prst="roundRect">
            <a:avLst/>
          </a:prstGeom>
          <a:noFill/>
          <a:ln w="15875">
            <a:solidFill>
              <a:srgbClr val="4FC3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4FC3F7"/>
                </a:solidFill>
                <a:latin typeface="Consolas"/>
              </a:rPr>
              <a:t>ANDROID + iOS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4754880"/>
            <a:ext cx="2011680" cy="402336"/>
          </a:xfrm>
          <a:prstGeom prst="roundRect">
            <a:avLst/>
          </a:prstGeom>
          <a:noFill/>
          <a:ln w="15875">
            <a:solidFill>
              <a:srgbClr val="FFB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FFB300"/>
                </a:solidFill>
                <a:latin typeface="Consolas"/>
              </a:rPr>
              <a:t>9.1 MB MODELS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60920" y="4754880"/>
            <a:ext cx="1828800" cy="402336"/>
          </a:xfrm>
          <a:prstGeom prst="roundRect">
            <a:avLst/>
          </a:prstGeom>
          <a:noFill/>
          <a:ln w="15875">
            <a:solidFill>
              <a:srgbClr val="8DA3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8DA39B"/>
                </a:solidFill>
                <a:latin typeface="Consolas"/>
              </a:rPr>
              <a:t>OPEN SOURCE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1248" y="5806440"/>
            <a:ext cx="2926080" cy="10972"/>
          </a:xfrm>
          <a:prstGeom prst="rect">
            <a:avLst/>
          </a:prstGeom>
          <a:solidFill>
            <a:srgbClr val="2F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59436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EAF3EF"/>
                </a:solidFill>
                <a:latin typeface="Segoe UI"/>
              </a:rPr>
              <a:t>NHAI Hackathon 7.0</a:t>
            </a:r>
            <a:r>
              <a:rPr sz="1300" b="0">
                <a:solidFill>
                  <a:srgbClr val="5C726A"/>
                </a:solidFill>
                <a:latin typeface="Segoe UI"/>
              </a:rPr>
              <a:t>   ·   Datalake 3.0 integration module   ·   v1.0.0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6291072"/>
            <a:ext cx="10515600" cy="10972"/>
          </a:xfrm>
          <a:prstGeom prst="rect">
            <a:avLst/>
          </a:prstGeom>
          <a:solidFill>
            <a:srgbClr val="223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391656"/>
            <a:ext cx="73152" cy="155448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6364224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726A"/>
                </a:solidFill>
                <a:latin typeface="Consolas"/>
              </a:rPr>
              <a:t>OFFLINE·ID</a:t>
            </a:r>
            <a:r>
              <a:rPr sz="900" b="0">
                <a:solidFill>
                  <a:srgbClr val="5C726A"/>
                </a:solidFill>
                <a:latin typeface="Consolas"/>
              </a:rPr>
              <a:t>   NHAI HACKATHON 7.0 · DATALAKE 3.0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64224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726A"/>
                </a:solidFill>
                <a:latin typeface="Consolas"/>
              </a:rPr>
              <a:t>02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576072"/>
            <a:ext cx="64008" cy="18288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548640"/>
            <a:ext cx="10332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0E676"/>
                </a:solidFill>
                <a:latin typeface="Consolas"/>
              </a:rPr>
              <a:t>THE 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950976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AF3EF"/>
                </a:solidFill>
                <a:latin typeface="Segoe UI"/>
              </a:rPr>
              <a:t>Authenticating field staff where there is no network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" y="1627632"/>
            <a:ext cx="603504" cy="4572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1664208"/>
            <a:ext cx="10515600" cy="10972"/>
          </a:xfrm>
          <a:prstGeom prst="rect">
            <a:avLst/>
          </a:prstGeom>
          <a:solidFill>
            <a:srgbClr val="223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847088"/>
            <a:ext cx="1060704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1">
                <a:solidFill>
                  <a:srgbClr val="00E676"/>
                </a:solidFill>
                <a:latin typeface="Segoe UI"/>
              </a:rPr>
              <a:t>▸  </a:t>
            </a:r>
            <a:r>
              <a:rPr sz="1600" b="1">
                <a:solidFill>
                  <a:srgbClr val="EAF3EF"/>
                </a:solidFill>
                <a:latin typeface="Segoe UI"/>
              </a:rPr>
              <a:t>Zero-network sites.</a:t>
            </a:r>
            <a:r>
              <a:rPr sz="1600" b="0">
                <a:solidFill>
                  <a:srgbClr val="8DA39B"/>
                </a:solidFill>
                <a:latin typeface="Segoe UI"/>
              </a:rPr>
              <a:t>  NHAI personnel work in remote zones; cloud face APIs simply fail offline.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1">
                <a:solidFill>
                  <a:srgbClr val="00E676"/>
                </a:solidFill>
                <a:latin typeface="Segoe UI"/>
              </a:rPr>
              <a:t>▸  </a:t>
            </a:r>
            <a:r>
              <a:rPr sz="1600" b="1">
                <a:solidFill>
                  <a:srgbClr val="EAF3EF"/>
                </a:solidFill>
                <a:latin typeface="Segoe UI"/>
              </a:rPr>
              <a:t>Fraud risk.</a:t>
            </a:r>
            <a:r>
              <a:rPr sz="1600" b="0">
                <a:solidFill>
                  <a:srgbClr val="8DA39B"/>
                </a:solidFill>
                <a:latin typeface="Segoe UI"/>
              </a:rPr>
              <a:t>  Photos and phone-screen replays let people fake attendance.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1">
                <a:solidFill>
                  <a:srgbClr val="00E676"/>
                </a:solidFill>
                <a:latin typeface="Segoe UI"/>
              </a:rPr>
              <a:t>▸  </a:t>
            </a:r>
            <a:r>
              <a:rPr sz="1600" b="1">
                <a:solidFill>
                  <a:srgbClr val="EAF3EF"/>
                </a:solidFill>
                <a:latin typeface="Segoe UI"/>
              </a:rPr>
              <a:t>Constrained hardware.</a:t>
            </a:r>
            <a:r>
              <a:rPr sz="1600" b="0">
                <a:solidFill>
                  <a:srgbClr val="8DA39B"/>
                </a:solidFill>
                <a:latin typeface="Segoe UI"/>
              </a:rPr>
              <a:t>  Must run on mid-range phones: 3 GB RAM, Android 8+/iOS 12+, no GPU.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1">
                <a:solidFill>
                  <a:srgbClr val="00E676"/>
                </a:solidFill>
                <a:latin typeface="Segoe UI"/>
              </a:rPr>
              <a:t>▸  </a:t>
            </a:r>
            <a:r>
              <a:rPr sz="1600" b="1">
                <a:solidFill>
                  <a:srgbClr val="EAF3EF"/>
                </a:solidFill>
                <a:latin typeface="Segoe UI"/>
              </a:rPr>
              <a:t>Hard targets.</a:t>
            </a:r>
            <a:r>
              <a:rPr sz="1600" b="0">
                <a:solidFill>
                  <a:srgbClr val="8DA39B"/>
                </a:solidFill>
                <a:latin typeface="Segoe UI"/>
              </a:rPr>
              <a:t>  &lt; 1 second, &gt; 95% accuracy, diverse Indian faces, harsh outdoor light.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1">
                <a:solidFill>
                  <a:srgbClr val="00E676"/>
                </a:solidFill>
                <a:latin typeface="Segoe UI"/>
              </a:rPr>
              <a:t>▸  </a:t>
            </a:r>
            <a:r>
              <a:rPr sz="1600" b="1">
                <a:solidFill>
                  <a:srgbClr val="EAF3EF"/>
                </a:solidFill>
                <a:latin typeface="Segoe UI"/>
              </a:rPr>
              <a:t>Must fit Datalake 3.0.</a:t>
            </a:r>
            <a:r>
              <a:rPr sz="1600" b="0">
                <a:solidFill>
                  <a:srgbClr val="8DA39B"/>
                </a:solidFill>
                <a:latin typeface="Segoe UI"/>
              </a:rPr>
              <a:t>  Ship as a React Native module, not a separate app.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5093208"/>
            <a:ext cx="10515600" cy="868680"/>
          </a:xfrm>
          <a:prstGeom prst="roundRect">
            <a:avLst/>
          </a:prstGeom>
          <a:solidFill>
            <a:srgbClr val="161D1A"/>
          </a:solidFill>
          <a:ln w="15875">
            <a:solidFill>
              <a:srgbClr val="2F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2960" y="5093208"/>
            <a:ext cx="73152" cy="86868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5230368"/>
            <a:ext cx="100584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00E676"/>
                </a:solidFill>
                <a:latin typeface="Segoe UI"/>
              </a:rPr>
              <a:t>“</a:t>
            </a:r>
            <a:r>
              <a:rPr sz="1450" b="0">
                <a:solidFill>
                  <a:srgbClr val="EAF3EF"/>
                </a:solidFill>
                <a:latin typeface="Segoe UI"/>
              </a:rPr>
              <a:t>How do we authenticate field personnel securely, fully offline, on standard phones, and integrate it into a React Native app on Android and iOS?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6291072"/>
            <a:ext cx="10515600" cy="10972"/>
          </a:xfrm>
          <a:prstGeom prst="rect">
            <a:avLst/>
          </a:prstGeom>
          <a:solidFill>
            <a:srgbClr val="223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391656"/>
            <a:ext cx="73152" cy="155448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6364224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726A"/>
                </a:solidFill>
                <a:latin typeface="Consolas"/>
              </a:rPr>
              <a:t>OFFLINE·ID</a:t>
            </a:r>
            <a:r>
              <a:rPr sz="900" b="0">
                <a:solidFill>
                  <a:srgbClr val="5C726A"/>
                </a:solidFill>
                <a:latin typeface="Consolas"/>
              </a:rPr>
              <a:t>   NHAI HACKATHON 7.0 · DATALAKE 3.0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64224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726A"/>
                </a:solidFill>
                <a:latin typeface="Consolas"/>
              </a:rPr>
              <a:t>03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576072"/>
            <a:ext cx="64008" cy="18288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548640"/>
            <a:ext cx="10332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0E676"/>
                </a:solidFill>
                <a:latin typeface="Consolas"/>
              </a:rPr>
              <a:t>OUR SOLUTION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950976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AF3EF"/>
                </a:solidFill>
                <a:latin typeface="Segoe UI"/>
              </a:rPr>
              <a:t>A fully on-device authentication module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" y="1627632"/>
            <a:ext cx="603504" cy="4572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1664208"/>
            <a:ext cx="10515600" cy="10972"/>
          </a:xfrm>
          <a:prstGeom prst="rect">
            <a:avLst/>
          </a:prstGeom>
          <a:solidFill>
            <a:srgbClr val="223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847088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EAF3EF"/>
                </a:solidFill>
                <a:latin typeface="Segoe UI"/>
              </a:rPr>
              <a:t>Detect → prove liveness → recognise in </a:t>
            </a:r>
            <a:r>
              <a:rPr sz="1800" b="1">
                <a:solidFill>
                  <a:srgbClr val="00E676"/>
                </a:solidFill>
                <a:latin typeface="Consolas"/>
              </a:rPr>
              <a:t>~51 ms</a:t>
            </a:r>
            <a:r>
              <a:rPr sz="1800" b="0">
                <a:solidFill>
                  <a:srgbClr val="EAF3EF"/>
                </a:solidFill>
                <a:latin typeface="Segoe UI"/>
              </a:rPr>
              <a:t>, with no internet, then </a:t>
            </a:r>
            <a:r>
              <a:rPr sz="1800" b="1">
                <a:solidFill>
                  <a:srgbClr val="00E676"/>
                </a:solidFill>
                <a:latin typeface="Segoe UI"/>
              </a:rPr>
              <a:t>sync-and-purge</a:t>
            </a:r>
            <a:r>
              <a:rPr sz="1800" b="0">
                <a:solidFill>
                  <a:srgbClr val="EAF3EF"/>
                </a:solidFill>
                <a:latin typeface="Segoe UI"/>
              </a:rPr>
              <a:t> to AWS when back online.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172968"/>
            <a:ext cx="2542032" cy="2331720"/>
          </a:xfrm>
          <a:prstGeom prst="roundRect">
            <a:avLst/>
          </a:prstGeom>
          <a:solidFill>
            <a:srgbClr val="111714"/>
          </a:solidFill>
          <a:ln w="15875">
            <a:solidFill>
              <a:srgbClr val="00E6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24128" y="3383280"/>
            <a:ext cx="274320" cy="64008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4128" y="3529584"/>
            <a:ext cx="2176272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00E676"/>
                </a:solidFill>
                <a:latin typeface="Consolas"/>
              </a:rPr>
              <a:t>OFFLINE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8DA39B"/>
                </a:solidFill>
                <a:latin typeface="Segoe UI"/>
              </a:rPr>
              <a:t>Recognition + liveness run
entirely on the device.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83863" y="3172968"/>
            <a:ext cx="2542032" cy="2331720"/>
          </a:xfrm>
          <a:prstGeom prst="roundRect">
            <a:avLst/>
          </a:prstGeom>
          <a:solidFill>
            <a:srgbClr val="111714"/>
          </a:solidFill>
          <a:ln w="15875">
            <a:solidFill>
              <a:srgbClr val="4FC3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85031" y="3383280"/>
            <a:ext cx="274320" cy="64008"/>
          </a:xfrm>
          <a:prstGeom prst="rect">
            <a:avLst/>
          </a:prstGeom>
          <a:solidFill>
            <a:srgbClr val="4FC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85031" y="3529584"/>
            <a:ext cx="2176272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4FC3F7"/>
                </a:solidFill>
                <a:latin typeface="Consolas"/>
              </a:rPr>
              <a:t>ANTI-SPOOF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8DA39B"/>
                </a:solidFill>
                <a:latin typeface="Segoe UI"/>
              </a:rPr>
              <a:t>Passive FASNet + active
gesture defeat photos.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4768" y="3172968"/>
            <a:ext cx="2542032" cy="2331720"/>
          </a:xfrm>
          <a:prstGeom prst="roundRect">
            <a:avLst/>
          </a:prstGeom>
          <a:solidFill>
            <a:srgbClr val="111714"/>
          </a:solidFill>
          <a:ln w="15875">
            <a:solidFill>
              <a:srgbClr val="FFB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45936" y="3383280"/>
            <a:ext cx="274320" cy="64008"/>
          </a:xfrm>
          <a:prstGeom prst="rect">
            <a:avLst/>
          </a:prstGeom>
          <a:solidFill>
            <a:srgbClr val="FFB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45936" y="3529584"/>
            <a:ext cx="2176272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FFB300"/>
                </a:solidFill>
                <a:latin typeface="Consolas"/>
              </a:rPr>
              <a:t>ENCRYPTED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8DA39B"/>
                </a:solidFill>
                <a:latin typeface="Segoe UI"/>
              </a:rPr>
              <a:t>AES-256-GCM faceprints;
no raw images stored.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805672" y="3172968"/>
            <a:ext cx="2542032" cy="2331720"/>
          </a:xfrm>
          <a:prstGeom prst="roundRect">
            <a:avLst/>
          </a:prstGeom>
          <a:solidFill>
            <a:srgbClr val="111714"/>
          </a:solidFill>
          <a:ln w="15875">
            <a:solidFill>
              <a:srgbClr val="00E6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06840" y="3383280"/>
            <a:ext cx="274320" cy="64008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06840" y="3529584"/>
            <a:ext cx="2176272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00E676"/>
                </a:solidFill>
                <a:latin typeface="Consolas"/>
              </a:rPr>
              <a:t>SYNC &amp; PURGE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8DA39B"/>
                </a:solidFill>
                <a:latin typeface="Segoe UI"/>
              </a:rPr>
              <a:t>Presigned S3 upload, then
local records deleted.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6291072"/>
            <a:ext cx="10515600" cy="10972"/>
          </a:xfrm>
          <a:prstGeom prst="rect">
            <a:avLst/>
          </a:prstGeom>
          <a:solidFill>
            <a:srgbClr val="223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391656"/>
            <a:ext cx="73152" cy="155448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6364224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726A"/>
                </a:solidFill>
                <a:latin typeface="Consolas"/>
              </a:rPr>
              <a:t>OFFLINE·ID</a:t>
            </a:r>
            <a:r>
              <a:rPr sz="900" b="0">
                <a:solidFill>
                  <a:srgbClr val="5C726A"/>
                </a:solidFill>
                <a:latin typeface="Consolas"/>
              </a:rPr>
              <a:t>   NHAI HACKATHON 7.0 · DATALAKE 3.0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64224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726A"/>
                </a:solidFill>
                <a:latin typeface="Consolas"/>
              </a:rPr>
              <a:t>04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576072"/>
            <a:ext cx="64008" cy="18288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548640"/>
            <a:ext cx="10332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0E676"/>
                </a:solidFill>
                <a:latin typeface="Consolas"/>
              </a:rPr>
              <a:t>THE AI PIPELINE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950976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AF3EF"/>
                </a:solidFill>
                <a:latin typeface="Segoe UI"/>
              </a:rPr>
              <a:t>Camera still to attendance record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" y="1627632"/>
            <a:ext cx="603504" cy="4572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1664208"/>
            <a:ext cx="10515600" cy="10972"/>
          </a:xfrm>
          <a:prstGeom prst="rect">
            <a:avLst/>
          </a:prstGeom>
          <a:solidFill>
            <a:srgbClr val="223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22960" y="1865376"/>
            <a:ext cx="10515600" cy="512064"/>
          </a:xfrm>
          <a:prstGeom prst="roundRect">
            <a:avLst/>
          </a:prstGeom>
          <a:solidFill>
            <a:srgbClr val="111714"/>
          </a:solidFill>
          <a:ln w="15875">
            <a:solidFill>
              <a:srgbClr val="00E6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" y="1975104"/>
            <a:ext cx="64008" cy="292608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0704" y="1956816"/>
            <a:ext cx="10094976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EAF3EF"/>
                </a:solidFill>
                <a:latin typeface="Segoe UI"/>
              </a:rPr>
              <a:t>1 · Detect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8DA39B"/>
                </a:solidFill>
                <a:latin typeface="Consolas"/>
              </a:rPr>
              <a:t>SCRFD-500M → box + 5 landmarks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5934456" y="2395728"/>
            <a:ext cx="292608" cy="237744"/>
          </a:xfrm>
          <a:prstGeom prst="downArrow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2960" y="2601468"/>
            <a:ext cx="10515600" cy="512064"/>
          </a:xfrm>
          <a:prstGeom prst="roundRect">
            <a:avLst/>
          </a:prstGeom>
          <a:solidFill>
            <a:srgbClr val="111714"/>
          </a:solidFill>
          <a:ln w="15875">
            <a:solidFill>
              <a:srgbClr val="4FC3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" y="2711196"/>
            <a:ext cx="64008" cy="292608"/>
          </a:xfrm>
          <a:prstGeom prst="rect">
            <a:avLst/>
          </a:prstGeom>
          <a:solidFill>
            <a:srgbClr val="4FC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2692908"/>
            <a:ext cx="10094976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EAF3EF"/>
                </a:solidFill>
                <a:latin typeface="Segoe UI"/>
              </a:rPr>
              <a:t>2 · Passive liveness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8DA39B"/>
                </a:solidFill>
                <a:latin typeface="Consolas"/>
              </a:rPr>
              <a:t>FASNet ×2 (2.7 / 4.0) anti-spoof</a:t>
            </a:r>
          </a:p>
        </p:txBody>
      </p:sp>
      <p:sp>
        <p:nvSpPr>
          <p:cNvPr id="19" name="Down Arrow 18"/>
          <p:cNvSpPr/>
          <p:nvPr/>
        </p:nvSpPr>
        <p:spPr>
          <a:xfrm>
            <a:off x="5934456" y="3131820"/>
            <a:ext cx="292608" cy="237744"/>
          </a:xfrm>
          <a:prstGeom prst="downArrow">
            <a:avLst/>
          </a:prstGeom>
          <a:solidFill>
            <a:srgbClr val="4FC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22960" y="3337560"/>
            <a:ext cx="10515600" cy="512064"/>
          </a:xfrm>
          <a:prstGeom prst="roundRect">
            <a:avLst/>
          </a:prstGeom>
          <a:solidFill>
            <a:srgbClr val="111714"/>
          </a:solidFill>
          <a:ln w="15875">
            <a:solidFill>
              <a:srgbClr val="4FC3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2960" y="3447288"/>
            <a:ext cx="64008" cy="292608"/>
          </a:xfrm>
          <a:prstGeom prst="rect">
            <a:avLst/>
          </a:prstGeom>
          <a:solidFill>
            <a:srgbClr val="4FC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0704" y="3429000"/>
            <a:ext cx="10094976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EAF3EF"/>
                </a:solidFill>
                <a:latin typeface="Segoe UI"/>
              </a:rPr>
              <a:t>3 · Active liveness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8DA39B"/>
                </a:solidFill>
                <a:latin typeface="Consolas"/>
              </a:rPr>
              <a:t>ML Kit gesture: blink / smile / turn</a:t>
            </a:r>
          </a:p>
        </p:txBody>
      </p:sp>
      <p:sp>
        <p:nvSpPr>
          <p:cNvPr id="23" name="Down Arrow 22"/>
          <p:cNvSpPr/>
          <p:nvPr/>
        </p:nvSpPr>
        <p:spPr>
          <a:xfrm>
            <a:off x="5934456" y="3867912"/>
            <a:ext cx="292608" cy="237744"/>
          </a:xfrm>
          <a:prstGeom prst="downArrow">
            <a:avLst/>
          </a:prstGeom>
          <a:solidFill>
            <a:srgbClr val="4FC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22960" y="4073652"/>
            <a:ext cx="10515600" cy="512064"/>
          </a:xfrm>
          <a:prstGeom prst="roundRect">
            <a:avLst/>
          </a:prstGeom>
          <a:solidFill>
            <a:srgbClr val="111714"/>
          </a:solidFill>
          <a:ln w="15875">
            <a:solidFill>
              <a:srgbClr val="00E6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22960" y="4183380"/>
            <a:ext cx="64008" cy="292608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60704" y="4165091"/>
            <a:ext cx="10094976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EAF3EF"/>
                </a:solidFill>
                <a:latin typeface="Segoe UI"/>
              </a:rPr>
              <a:t>4 · Recognise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8DA39B"/>
                </a:solidFill>
                <a:latin typeface="Consolas"/>
              </a:rPr>
              <a:t>ArcFace align → MobileFaceNet 512-d</a:t>
            </a:r>
          </a:p>
        </p:txBody>
      </p:sp>
      <p:sp>
        <p:nvSpPr>
          <p:cNvPr id="27" name="Down Arrow 26"/>
          <p:cNvSpPr/>
          <p:nvPr/>
        </p:nvSpPr>
        <p:spPr>
          <a:xfrm>
            <a:off x="5934456" y="4604004"/>
            <a:ext cx="292608" cy="237744"/>
          </a:xfrm>
          <a:prstGeom prst="downArrow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22960" y="4809744"/>
            <a:ext cx="10515600" cy="512064"/>
          </a:xfrm>
          <a:prstGeom prst="roundRect">
            <a:avLst/>
          </a:prstGeom>
          <a:solidFill>
            <a:srgbClr val="111714"/>
          </a:solidFill>
          <a:ln w="15875">
            <a:solidFill>
              <a:srgbClr val="00E6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2960" y="4919472"/>
            <a:ext cx="64008" cy="292608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60704" y="4901183"/>
            <a:ext cx="10094976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EAF3EF"/>
                </a:solidFill>
                <a:latin typeface="Segoe UI"/>
              </a:rPr>
              <a:t>5 · Match &amp; log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8DA39B"/>
                </a:solidFill>
                <a:latin typeface="Consolas"/>
              </a:rPr>
              <a:t>cosine vs enrolled → encrypted row</a:t>
            </a:r>
          </a:p>
        </p:txBody>
      </p:sp>
      <p:sp>
        <p:nvSpPr>
          <p:cNvPr id="31" name="Down Arrow 30"/>
          <p:cNvSpPr/>
          <p:nvPr/>
        </p:nvSpPr>
        <p:spPr>
          <a:xfrm>
            <a:off x="5934456" y="5340096"/>
            <a:ext cx="292608" cy="237744"/>
          </a:xfrm>
          <a:prstGeom prst="downArrow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22960" y="5545836"/>
            <a:ext cx="10515600" cy="512064"/>
          </a:xfrm>
          <a:prstGeom prst="roundRect">
            <a:avLst/>
          </a:prstGeom>
          <a:solidFill>
            <a:srgbClr val="111714"/>
          </a:solidFill>
          <a:ln w="15875">
            <a:solidFill>
              <a:srgbClr val="FFB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22960" y="5655564"/>
            <a:ext cx="64008" cy="292608"/>
          </a:xfrm>
          <a:prstGeom prst="rect">
            <a:avLst/>
          </a:prstGeom>
          <a:solidFill>
            <a:srgbClr val="FFB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60704" y="5637275"/>
            <a:ext cx="10094976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EAF3EF"/>
                </a:solidFill>
                <a:latin typeface="Segoe UI"/>
              </a:rPr>
              <a:t>6 · Sync &amp; purge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8DA39B"/>
                </a:solidFill>
                <a:latin typeface="Consolas"/>
              </a:rPr>
              <a:t>reconnect → S3 PUT → local delete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6291072"/>
            <a:ext cx="10515600" cy="10972"/>
          </a:xfrm>
          <a:prstGeom prst="rect">
            <a:avLst/>
          </a:prstGeom>
          <a:solidFill>
            <a:srgbClr val="223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391656"/>
            <a:ext cx="73152" cy="155448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6364224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726A"/>
                </a:solidFill>
                <a:latin typeface="Consolas"/>
              </a:rPr>
              <a:t>OFFLINE·ID</a:t>
            </a:r>
            <a:r>
              <a:rPr sz="900" b="0">
                <a:solidFill>
                  <a:srgbClr val="5C726A"/>
                </a:solidFill>
                <a:latin typeface="Consolas"/>
              </a:rPr>
              <a:t>   NHAI HACKATHON 7.0 · DATALAKE 3.0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64224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726A"/>
                </a:solidFill>
                <a:latin typeface="Consolas"/>
              </a:rPr>
              <a:t>05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576072"/>
            <a:ext cx="64008" cy="18288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548640"/>
            <a:ext cx="10332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0E676"/>
                </a:solidFill>
                <a:latin typeface="Consolas"/>
              </a:rPr>
              <a:t>INNOVATION · 30 MARKS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950976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AF3EF"/>
                </a:solidFill>
                <a:latin typeface="Segoe UI"/>
              </a:rPr>
              <a:t>Edge AI that earns its footprint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" y="1627632"/>
            <a:ext cx="603504" cy="4572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1664208"/>
            <a:ext cx="10515600" cy="10972"/>
          </a:xfrm>
          <a:prstGeom prst="rect">
            <a:avLst/>
          </a:prstGeom>
          <a:solidFill>
            <a:srgbClr val="223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22960" y="1984248"/>
            <a:ext cx="3429000" cy="3246120"/>
          </a:xfrm>
          <a:prstGeom prst="roundRect">
            <a:avLst/>
          </a:prstGeom>
          <a:solidFill>
            <a:srgbClr val="111714"/>
          </a:solidFill>
          <a:ln w="15875">
            <a:solidFill>
              <a:srgbClr val="2F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51560" y="2231136"/>
            <a:ext cx="457200" cy="64008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2377440"/>
            <a:ext cx="2971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800" b="1">
                <a:solidFill>
                  <a:srgbClr val="00E676"/>
                </a:solidFill>
                <a:latin typeface="Segoe UI"/>
              </a:rPr>
              <a:t>9.1 MB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DA39B"/>
                </a:solidFill>
                <a:latin typeface="Consolas"/>
              </a:rPr>
              <a:t>TOTAL MODEL BUNDLE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3721608"/>
            <a:ext cx="2971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EAF3EF"/>
                </a:solidFill>
                <a:latin typeface="Segoe UI"/>
              </a:rPr>
              <a:t>INT8-quantised MobileFaceNet keeps the whole
bundle under half the 20 MB budget.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16552" y="1984248"/>
            <a:ext cx="3429000" cy="3246120"/>
          </a:xfrm>
          <a:prstGeom prst="roundRect">
            <a:avLst/>
          </a:prstGeom>
          <a:solidFill>
            <a:srgbClr val="111714"/>
          </a:solidFill>
          <a:ln w="15875">
            <a:solidFill>
              <a:srgbClr val="2F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645152" y="2231136"/>
            <a:ext cx="457200" cy="64008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45152" y="2377440"/>
            <a:ext cx="2971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800" b="1">
                <a:solidFill>
                  <a:srgbClr val="00E676"/>
                </a:solidFill>
                <a:latin typeface="Segoe UI"/>
              </a:rPr>
              <a:t>2 layers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DA39B"/>
                </a:solidFill>
                <a:latin typeface="Consolas"/>
              </a:rPr>
              <a:t>OF LIVENESS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45152" y="3721608"/>
            <a:ext cx="2971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EAF3EF"/>
                </a:solidFill>
                <a:latin typeface="Segoe UI"/>
              </a:rPr>
              <a:t>Passive FASNet anti-spoof PLUS a randomised
active gesture sequence.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10144" y="1984248"/>
            <a:ext cx="3429000" cy="3246120"/>
          </a:xfrm>
          <a:prstGeom prst="roundRect">
            <a:avLst/>
          </a:prstGeom>
          <a:solidFill>
            <a:srgbClr val="111714"/>
          </a:solidFill>
          <a:ln w="15875">
            <a:solidFill>
              <a:srgbClr val="2F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38744" y="2231136"/>
            <a:ext cx="457200" cy="64008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8744" y="2377440"/>
            <a:ext cx="2971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800" b="1">
                <a:solidFill>
                  <a:srgbClr val="00E676"/>
                </a:solidFill>
                <a:latin typeface="Segoe UI"/>
              </a:rPr>
              <a:t>0 cloud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DA39B"/>
                </a:solidFill>
                <a:latin typeface="Consolas"/>
              </a:rPr>
              <a:t>CALLS FOR AUTH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4" y="3721608"/>
            <a:ext cx="2971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EAF3EF"/>
                </a:solidFill>
                <a:latin typeface="Segoe UI"/>
              </a:rPr>
              <a:t>Detection, liveness and matching all run
on-device; works in airplane mode.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6291072"/>
            <a:ext cx="10515600" cy="10972"/>
          </a:xfrm>
          <a:prstGeom prst="rect">
            <a:avLst/>
          </a:prstGeom>
          <a:solidFill>
            <a:srgbClr val="223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391656"/>
            <a:ext cx="73152" cy="155448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6364224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726A"/>
                </a:solidFill>
                <a:latin typeface="Consolas"/>
              </a:rPr>
              <a:t>OFFLINE·ID</a:t>
            </a:r>
            <a:r>
              <a:rPr sz="900" b="0">
                <a:solidFill>
                  <a:srgbClr val="5C726A"/>
                </a:solidFill>
                <a:latin typeface="Consolas"/>
              </a:rPr>
              <a:t>   NHAI HACKATHON 7.0 · DATALAKE 3.0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64224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726A"/>
                </a:solidFill>
                <a:latin typeface="Consolas"/>
              </a:rPr>
              <a:t>06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576072"/>
            <a:ext cx="64008" cy="18288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548640"/>
            <a:ext cx="10332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0E676"/>
                </a:solidFill>
                <a:latin typeface="Consolas"/>
              </a:rPr>
              <a:t>MODEL STACK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950976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AF3EF"/>
                </a:solidFill>
                <a:latin typeface="Segoe UI"/>
              </a:rPr>
              <a:t>Four open-source ONNX models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" y="1627632"/>
            <a:ext cx="603504" cy="4572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1664208"/>
            <a:ext cx="10515600" cy="10972"/>
          </a:xfrm>
          <a:prstGeom prst="rect">
            <a:avLst/>
          </a:prstGeom>
          <a:solidFill>
            <a:srgbClr val="223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822960" y="1956816"/>
          <a:ext cx="10515600" cy="3200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3108960"/>
                <a:gridCol w="1554480"/>
                <a:gridCol w="402336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00E676"/>
                          </a:solidFill>
                          <a:latin typeface="Segoe UI"/>
                        </a:rPr>
                        <a:t>Stage</a:t>
                      </a:r>
                    </a:p>
                  </a:txBody>
                  <a:tcPr marL="128016" marR="73152" marT="18288" marB="18288" anchor="ctr">
                    <a:solidFill>
                      <a:srgbClr val="0B3D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00E676"/>
                          </a:solidFill>
                          <a:latin typeface="Segoe UI"/>
                        </a:rPr>
                        <a:t>Model</a:t>
                      </a:r>
                    </a:p>
                  </a:txBody>
                  <a:tcPr marL="128016" marR="73152" marT="18288" marB="18288" anchor="ctr">
                    <a:solidFill>
                      <a:srgbClr val="0B3D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00E676"/>
                          </a:solidFill>
                          <a:latin typeface="Segoe UI"/>
                        </a:rPr>
                        <a:t>Size</a:t>
                      </a:r>
                    </a:p>
                  </a:txBody>
                  <a:tcPr marL="128016" marR="73152" marT="18288" marB="18288" anchor="ctr">
                    <a:solidFill>
                      <a:srgbClr val="0B3D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00E676"/>
                          </a:solidFill>
                          <a:latin typeface="Segoe UI"/>
                        </a:rPr>
                        <a:t>Role</a:t>
                      </a:r>
                    </a:p>
                  </a:txBody>
                  <a:tcPr marL="128016" marR="73152" marT="18288" marB="18288" anchor="ctr">
                    <a:solidFill>
                      <a:srgbClr val="0B3D2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EAF3EF"/>
                          </a:solidFill>
                          <a:latin typeface="Segoe UI"/>
                        </a:rPr>
                        <a:t>Detect</a:t>
                      </a:r>
                    </a:p>
                  </a:txBody>
                  <a:tcPr marL="128016" marR="73152" marT="18288" marB="18288" anchor="ctr">
                    <a:solidFill>
                      <a:srgbClr val="11171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8DA39B"/>
                          </a:solidFill>
                          <a:latin typeface="Consolas"/>
                        </a:rPr>
                        <a:t>SCRFD-500M</a:t>
                      </a:r>
                    </a:p>
                  </a:txBody>
                  <a:tcPr marL="128016" marR="73152" marT="18288" marB="18288" anchor="ctr">
                    <a:solidFill>
                      <a:srgbClr val="11171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8DA39B"/>
                          </a:solidFill>
                          <a:latin typeface="Consolas"/>
                        </a:rPr>
                        <a:t>2.41 MB</a:t>
                      </a:r>
                    </a:p>
                  </a:txBody>
                  <a:tcPr marL="128016" marR="73152" marT="18288" marB="18288" anchor="ctr">
                    <a:solidFill>
                      <a:srgbClr val="11171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8DA39B"/>
                          </a:solidFill>
                          <a:latin typeface="Consolas"/>
                        </a:rPr>
                        <a:t>face box + 5 landmarks</a:t>
                      </a:r>
                    </a:p>
                  </a:txBody>
                  <a:tcPr marL="128016" marR="73152" marT="18288" marB="18288" anchor="ctr">
                    <a:solidFill>
                      <a:srgbClr val="11171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EAF3EF"/>
                          </a:solidFill>
                          <a:latin typeface="Segoe UI"/>
                        </a:rPr>
                        <a:t>Recognise</a:t>
                      </a:r>
                    </a:p>
                  </a:txBody>
                  <a:tcPr marL="128016" marR="73152" marT="18288" marB="18288" anchor="ctr">
                    <a:solidFill>
                      <a:srgbClr val="161D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8DA39B"/>
                          </a:solidFill>
                          <a:latin typeface="Consolas"/>
                        </a:rPr>
                        <a:t>MobileFaceNet INT8</a:t>
                      </a:r>
                    </a:p>
                  </a:txBody>
                  <a:tcPr marL="128016" marR="73152" marT="18288" marB="18288" anchor="ctr">
                    <a:solidFill>
                      <a:srgbClr val="161D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8DA39B"/>
                          </a:solidFill>
                          <a:latin typeface="Consolas"/>
                        </a:rPr>
                        <a:t>3.35 MB</a:t>
                      </a:r>
                    </a:p>
                  </a:txBody>
                  <a:tcPr marL="128016" marR="73152" marT="18288" marB="18288" anchor="ctr">
                    <a:solidFill>
                      <a:srgbClr val="161D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8DA39B"/>
                          </a:solidFill>
                          <a:latin typeface="Consolas"/>
                        </a:rPr>
                        <a:t>512-d ArcFace embedding</a:t>
                      </a:r>
                    </a:p>
                  </a:txBody>
                  <a:tcPr marL="128016" marR="73152" marT="18288" marB="18288" anchor="ctr">
                    <a:solidFill>
                      <a:srgbClr val="161D1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EAF3EF"/>
                          </a:solidFill>
                          <a:latin typeface="Segoe UI"/>
                        </a:rPr>
                        <a:t>Liveness A</a:t>
                      </a:r>
                    </a:p>
                  </a:txBody>
                  <a:tcPr marL="128016" marR="73152" marT="18288" marB="18288" anchor="ctr">
                    <a:solidFill>
                      <a:srgbClr val="11171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8DA39B"/>
                          </a:solidFill>
                          <a:latin typeface="Consolas"/>
                        </a:rPr>
                        <a:t>MiniFASNet V2 (2.7)</a:t>
                      </a:r>
                    </a:p>
                  </a:txBody>
                  <a:tcPr marL="128016" marR="73152" marT="18288" marB="18288" anchor="ctr">
                    <a:solidFill>
                      <a:srgbClr val="11171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8DA39B"/>
                          </a:solidFill>
                          <a:latin typeface="Consolas"/>
                        </a:rPr>
                        <a:t>1.66 MB</a:t>
                      </a:r>
                    </a:p>
                  </a:txBody>
                  <a:tcPr marL="128016" marR="73152" marT="18288" marB="18288" anchor="ctr">
                    <a:solidFill>
                      <a:srgbClr val="11171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8DA39B"/>
                          </a:solidFill>
                          <a:latin typeface="Consolas"/>
                        </a:rPr>
                        <a:t>passive anti-spoof</a:t>
                      </a:r>
                    </a:p>
                  </a:txBody>
                  <a:tcPr marL="128016" marR="73152" marT="18288" marB="18288" anchor="ctr">
                    <a:solidFill>
                      <a:srgbClr val="11171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EAF3EF"/>
                          </a:solidFill>
                          <a:latin typeface="Segoe UI"/>
                        </a:rPr>
                        <a:t>Liveness B</a:t>
                      </a:r>
                    </a:p>
                  </a:txBody>
                  <a:tcPr marL="128016" marR="73152" marT="18288" marB="18288" anchor="ctr">
                    <a:solidFill>
                      <a:srgbClr val="161D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8DA39B"/>
                          </a:solidFill>
                          <a:latin typeface="Consolas"/>
                        </a:rPr>
                        <a:t>MiniFASNet V1SE (4.0)</a:t>
                      </a:r>
                    </a:p>
                  </a:txBody>
                  <a:tcPr marL="128016" marR="73152" marT="18288" marB="18288" anchor="ctr">
                    <a:solidFill>
                      <a:srgbClr val="161D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8DA39B"/>
                          </a:solidFill>
                          <a:latin typeface="Consolas"/>
                        </a:rPr>
                        <a:t>1.66 MB</a:t>
                      </a:r>
                    </a:p>
                  </a:txBody>
                  <a:tcPr marL="128016" marR="73152" marT="18288" marB="18288" anchor="ctr">
                    <a:solidFill>
                      <a:srgbClr val="161D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8DA39B"/>
                          </a:solidFill>
                          <a:latin typeface="Consolas"/>
                        </a:rPr>
                        <a:t>passive anti-spoof</a:t>
                      </a:r>
                    </a:p>
                  </a:txBody>
                  <a:tcPr marL="128016" marR="73152" marT="18288" marB="18288" anchor="ctr">
                    <a:solidFill>
                      <a:srgbClr val="161D1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EAF3EF"/>
                          </a:solidFill>
                          <a:latin typeface="Segoe UI"/>
                        </a:rPr>
                        <a:t>Runtime</a:t>
                      </a:r>
                    </a:p>
                  </a:txBody>
                  <a:tcPr marL="128016" marR="73152" marT="18288" marB="18288" anchor="ctr">
                    <a:solidFill>
                      <a:srgbClr val="11171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8DA39B"/>
                          </a:solidFill>
                          <a:latin typeface="Consolas"/>
                        </a:rPr>
                        <a:t>ONNX Runtime Mobile</a:t>
                      </a:r>
                    </a:p>
                  </a:txBody>
                  <a:tcPr marL="128016" marR="73152" marT="18288" marB="18288" anchor="ctr">
                    <a:solidFill>
                      <a:srgbClr val="11171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8DA39B"/>
                          </a:solidFill>
                          <a:latin typeface="Consolas"/>
                        </a:rPr>
                        <a:t>~3.5 MB</a:t>
                      </a:r>
                    </a:p>
                  </a:txBody>
                  <a:tcPr marL="128016" marR="73152" marT="18288" marB="18288" anchor="ctr">
                    <a:solidFill>
                      <a:srgbClr val="11171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8DA39B"/>
                          </a:solidFill>
                          <a:latin typeface="Consolas"/>
                        </a:rPr>
                        <a:t>CPU / XNNPACK / NNAPI / CoreML</a:t>
                      </a:r>
                    </a:p>
                  </a:txBody>
                  <a:tcPr marL="128016" marR="73152" marT="18288" marB="18288" anchor="ctr">
                    <a:solidFill>
                      <a:srgbClr val="111714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822960" y="5550408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00E676"/>
                </a:solidFill>
                <a:latin typeface="Segoe UI"/>
              </a:rPr>
              <a:t>All MIT-licensed. </a:t>
            </a:r>
            <a:r>
              <a:rPr sz="1400" b="0">
                <a:solidFill>
                  <a:srgbClr val="8DA39B"/>
                </a:solidFill>
                <a:latin typeface="Segoe UI"/>
              </a:rPr>
              <a:t>Models 9.1 MB + ONNX Runtime ≈ 12.6 MB added to the Datalake APK, inside the 20 MB brief budget.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6291072"/>
            <a:ext cx="10515600" cy="10972"/>
          </a:xfrm>
          <a:prstGeom prst="rect">
            <a:avLst/>
          </a:prstGeom>
          <a:solidFill>
            <a:srgbClr val="223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391656"/>
            <a:ext cx="73152" cy="155448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6364224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726A"/>
                </a:solidFill>
                <a:latin typeface="Consolas"/>
              </a:rPr>
              <a:t>OFFLINE·ID</a:t>
            </a:r>
            <a:r>
              <a:rPr sz="900" b="0">
                <a:solidFill>
                  <a:srgbClr val="5C726A"/>
                </a:solidFill>
                <a:latin typeface="Consolas"/>
              </a:rPr>
              <a:t>   NHAI HACKATHON 7.0 · DATALAKE 3.0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64224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726A"/>
                </a:solidFill>
                <a:latin typeface="Consolas"/>
              </a:rPr>
              <a:t>07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576072"/>
            <a:ext cx="64008" cy="18288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548640"/>
            <a:ext cx="10332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0E676"/>
                </a:solidFill>
                <a:latin typeface="Consolas"/>
              </a:rPr>
              <a:t>LIVENESS · ANTI-SPOOF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950976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AF3EF"/>
                </a:solidFill>
                <a:latin typeface="Segoe UI"/>
              </a:rPr>
              <a:t>Two independent layers, both must pass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" y="1627632"/>
            <a:ext cx="603504" cy="4572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1664208"/>
            <a:ext cx="10515600" cy="10972"/>
          </a:xfrm>
          <a:prstGeom prst="rect">
            <a:avLst/>
          </a:prstGeom>
          <a:solidFill>
            <a:srgbClr val="223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22960" y="1956816"/>
            <a:ext cx="5166360" cy="3246120"/>
          </a:xfrm>
          <a:prstGeom prst="roundRect">
            <a:avLst/>
          </a:prstGeom>
          <a:solidFill>
            <a:srgbClr val="111714"/>
          </a:solidFill>
          <a:ln w="15875">
            <a:solidFill>
              <a:srgbClr val="4FC3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24128" y="2176272"/>
            <a:ext cx="292608" cy="64008"/>
          </a:xfrm>
          <a:prstGeom prst="rect">
            <a:avLst/>
          </a:prstGeom>
          <a:solidFill>
            <a:srgbClr val="4FC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4128" y="2322576"/>
            <a:ext cx="47640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4FC3F7"/>
                </a:solidFill>
                <a:latin typeface="Consolas"/>
              </a:rPr>
              <a:t>PASSIVE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2807208"/>
            <a:ext cx="475488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4FC3F7"/>
                </a:solidFill>
                <a:latin typeface="Segoe UI"/>
              </a:rPr>
              <a:t>▸  </a:t>
            </a:r>
            <a:r>
              <a:rPr sz="1350" b="0">
                <a:solidFill>
                  <a:srgbClr val="EAF3EF"/>
                </a:solidFill>
                <a:latin typeface="Segoe UI"/>
              </a:rPr>
              <a:t>FASNet two-scale crops (2.7 + 4.0)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4FC3F7"/>
                </a:solidFill>
                <a:latin typeface="Segoe UI"/>
              </a:rPr>
              <a:t>▸  </a:t>
            </a:r>
            <a:r>
              <a:rPr sz="1350" b="0">
                <a:solidFill>
                  <a:srgbClr val="EAF3EF"/>
                </a:solidFill>
                <a:latin typeface="Segoe UI"/>
              </a:rPr>
              <a:t>Softmax P(real) &gt; 0.6 to pass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4FC3F7"/>
                </a:solidFill>
                <a:latin typeface="Segoe UI"/>
              </a:rPr>
              <a:t>▸  </a:t>
            </a:r>
            <a:r>
              <a:rPr sz="1350" b="0">
                <a:solidFill>
                  <a:srgbClr val="EAF3EF"/>
                </a:solidFill>
                <a:latin typeface="Segoe UI"/>
              </a:rPr>
              <a:t>Blocks printed photos, screens, 2D masks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4FC3F7"/>
                </a:solidFill>
                <a:latin typeface="Segoe UI"/>
              </a:rPr>
              <a:t>▸  </a:t>
            </a:r>
            <a:r>
              <a:rPr sz="1350" b="0">
                <a:solidFill>
                  <a:srgbClr val="EAF3EF"/>
                </a:solidFill>
                <a:latin typeface="Segoe UI"/>
              </a:rPr>
              <a:t>Runs in a few milliseconds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1956816"/>
            <a:ext cx="5166360" cy="3246120"/>
          </a:xfrm>
          <a:prstGeom prst="roundRect">
            <a:avLst/>
          </a:prstGeom>
          <a:solidFill>
            <a:srgbClr val="111714"/>
          </a:solidFill>
          <a:ln w="15875">
            <a:solidFill>
              <a:srgbClr val="00E6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73368" y="2176272"/>
            <a:ext cx="292608" cy="64008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3368" y="2322576"/>
            <a:ext cx="47640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00E676"/>
                </a:solidFill>
                <a:latin typeface="Consolas"/>
              </a:rPr>
              <a:t>ACTIVE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807208"/>
            <a:ext cx="475488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00E676"/>
                </a:solidFill>
                <a:latin typeface="Segoe UI"/>
              </a:rPr>
              <a:t>▸  </a:t>
            </a:r>
            <a:r>
              <a:rPr sz="1350" b="0">
                <a:solidFill>
                  <a:srgbClr val="EAF3EF"/>
                </a:solidFill>
                <a:latin typeface="Segoe UI"/>
              </a:rPr>
              <a:t>Randomised gesture in a 5 s window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00E676"/>
                </a:solidFill>
                <a:latin typeface="Segoe UI"/>
              </a:rPr>
              <a:t>▸  </a:t>
            </a:r>
            <a:r>
              <a:rPr sz="1350" b="0">
                <a:solidFill>
                  <a:srgbClr val="EAF3EF"/>
                </a:solidFill>
                <a:latin typeface="Segoe UI"/>
              </a:rPr>
              <a:t>Blink (EAR) · turn (yaw ±20°) · smile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00E676"/>
                </a:solidFill>
                <a:latin typeface="Segoe UI"/>
              </a:rPr>
              <a:t>▸  </a:t>
            </a:r>
            <a:r>
              <a:rPr sz="1350" b="0">
                <a:solidFill>
                  <a:srgbClr val="EAF3EF"/>
                </a:solidFill>
                <a:latin typeface="Segoe UI"/>
              </a:rPr>
              <a:t>On-device ML Kit, no network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00E676"/>
                </a:solidFill>
                <a:latin typeface="Segoe UI"/>
              </a:rPr>
              <a:t>▸  </a:t>
            </a:r>
            <a:r>
              <a:rPr sz="1350" b="0">
                <a:solidFill>
                  <a:srgbClr val="EAF3EF"/>
                </a:solidFill>
                <a:latin typeface="Segoe UI"/>
              </a:rPr>
              <a:t>Ordered sequence defeats replays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5458968"/>
            <a:ext cx="10515600" cy="566928"/>
          </a:xfrm>
          <a:prstGeom prst="roundRect">
            <a:avLst/>
          </a:prstGeom>
          <a:solidFill>
            <a:srgbClr val="161D1A"/>
          </a:solidFill>
          <a:ln w="15875">
            <a:solidFill>
              <a:srgbClr val="2F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5458968"/>
            <a:ext cx="10058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B300"/>
                </a:solidFill>
                <a:latin typeface="Consolas"/>
              </a:rPr>
              <a:t>GATE   </a:t>
            </a:r>
            <a:r>
              <a:rPr sz="1400" b="0">
                <a:solidFill>
                  <a:srgbClr val="EAF3EF"/>
                </a:solidFill>
                <a:latin typeface="Segoe UI"/>
              </a:rPr>
              <a:t>recognition only runs after both liveness layers pass.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6291072"/>
            <a:ext cx="10515600" cy="10972"/>
          </a:xfrm>
          <a:prstGeom prst="rect">
            <a:avLst/>
          </a:prstGeom>
          <a:solidFill>
            <a:srgbClr val="223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391656"/>
            <a:ext cx="73152" cy="155448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6364224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726A"/>
                </a:solidFill>
                <a:latin typeface="Consolas"/>
              </a:rPr>
              <a:t>OFFLINE·ID</a:t>
            </a:r>
            <a:r>
              <a:rPr sz="900" b="0">
                <a:solidFill>
                  <a:srgbClr val="5C726A"/>
                </a:solidFill>
                <a:latin typeface="Consolas"/>
              </a:rPr>
              <a:t>   NHAI HACKATHON 7.0 · DATALAKE 3.0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64224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726A"/>
                </a:solidFill>
                <a:latin typeface="Consolas"/>
              </a:rPr>
              <a:t>08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576072"/>
            <a:ext cx="64008" cy="18288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548640"/>
            <a:ext cx="10332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0E676"/>
                </a:solidFill>
                <a:latin typeface="Consolas"/>
              </a:rPr>
              <a:t>SECURITY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950976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AF3EF"/>
                </a:solidFill>
                <a:latin typeface="Segoe UI"/>
              </a:rPr>
              <a:t>Privacy-first by construction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" y="1627632"/>
            <a:ext cx="603504" cy="4572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1664208"/>
            <a:ext cx="10515600" cy="10972"/>
          </a:xfrm>
          <a:prstGeom prst="rect">
            <a:avLst/>
          </a:prstGeom>
          <a:solidFill>
            <a:srgbClr val="223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938528"/>
            <a:ext cx="1060704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00E676"/>
                </a:solidFill>
                <a:latin typeface="Segoe UI"/>
              </a:rPr>
              <a:t>▸  </a:t>
            </a:r>
            <a:r>
              <a:rPr sz="1600" b="1">
                <a:solidFill>
                  <a:srgbClr val="EAF3EF"/>
                </a:solidFill>
                <a:latin typeface="Segoe UI"/>
              </a:rPr>
              <a:t>Encrypted at rest.</a:t>
            </a:r>
            <a:r>
              <a:rPr sz="1600" b="0">
                <a:solidFill>
                  <a:srgbClr val="8DA39B"/>
                </a:solidFill>
                <a:latin typeface="Segoe UI"/>
              </a:rPr>
              <a:t>  Faceprints sealed with AES-256-GCM; key in the Android Keystore.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00E676"/>
                </a:solidFill>
                <a:latin typeface="Segoe UI"/>
              </a:rPr>
              <a:t>▸  </a:t>
            </a:r>
            <a:r>
              <a:rPr sz="1600" b="1">
                <a:solidFill>
                  <a:srgbClr val="EAF3EF"/>
                </a:solidFill>
                <a:latin typeface="Segoe UI"/>
              </a:rPr>
              <a:t>No raw images.</a:t>
            </a:r>
            <a:r>
              <a:rPr sz="1600" b="0">
                <a:solidFill>
                  <a:srgbClr val="8DA39B"/>
                </a:solidFill>
                <a:latin typeface="Segoe UI"/>
              </a:rPr>
              <a:t>  Only 512-d embeddings are stored, never photos of faces.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00E676"/>
                </a:solidFill>
                <a:latin typeface="Segoe UI"/>
              </a:rPr>
              <a:t>▸  </a:t>
            </a:r>
            <a:r>
              <a:rPr sz="1600" b="1">
                <a:solidFill>
                  <a:srgbClr val="EAF3EF"/>
                </a:solidFill>
                <a:latin typeface="Segoe UI"/>
              </a:rPr>
              <a:t>No cloud credentials.</a:t>
            </a:r>
            <a:r>
              <a:rPr sz="1600" b="0">
                <a:solidFill>
                  <a:srgbClr val="8DA39B"/>
                </a:solidFill>
                <a:latin typeface="Segoe UI"/>
              </a:rPr>
              <a:t>  Sync uses short-TTL presigned S3 URLs; device holds no AWS keys.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00E676"/>
                </a:solidFill>
                <a:latin typeface="Segoe UI"/>
              </a:rPr>
              <a:t>▸  </a:t>
            </a:r>
            <a:r>
              <a:rPr sz="1600" b="1">
                <a:solidFill>
                  <a:srgbClr val="EAF3EF"/>
                </a:solidFill>
                <a:latin typeface="Segoe UI"/>
              </a:rPr>
              <a:t>Abuse resistant.</a:t>
            </a:r>
            <a:r>
              <a:rPr sz="1600" b="0">
                <a:solidFill>
                  <a:srgbClr val="8DA39B"/>
                </a:solidFill>
                <a:latin typeface="Segoe UI"/>
              </a:rPr>
              <a:t>  30-second lockout after repeated failed attempts.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00E676"/>
                </a:solidFill>
                <a:latin typeface="Segoe UI"/>
              </a:rPr>
              <a:t>▸  </a:t>
            </a:r>
            <a:r>
              <a:rPr sz="1600" b="1">
                <a:solidFill>
                  <a:srgbClr val="EAF3EF"/>
                </a:solidFill>
                <a:latin typeface="Segoe UI"/>
              </a:rPr>
              <a:t>Purge on sync.</a:t>
            </a:r>
            <a:r>
              <a:rPr sz="1600" b="0">
                <a:solidFill>
                  <a:srgbClr val="8DA39B"/>
                </a:solidFill>
                <a:latin typeface="Segoe UI"/>
              </a:rPr>
              <a:t>  Attendance rows are deleted locally once the upload is confirmed.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6291072"/>
            <a:ext cx="10515600" cy="10972"/>
          </a:xfrm>
          <a:prstGeom prst="rect">
            <a:avLst/>
          </a:prstGeom>
          <a:solidFill>
            <a:srgbClr val="223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391656"/>
            <a:ext cx="73152" cy="155448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6364224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726A"/>
                </a:solidFill>
                <a:latin typeface="Consolas"/>
              </a:rPr>
              <a:t>OFFLINE·ID</a:t>
            </a:r>
            <a:r>
              <a:rPr sz="900" b="0">
                <a:solidFill>
                  <a:srgbClr val="5C726A"/>
                </a:solidFill>
                <a:latin typeface="Consolas"/>
              </a:rPr>
              <a:t>   NHAI HACKATHON 7.0 · DATALAKE 3.0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64224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726A"/>
                </a:solidFill>
                <a:latin typeface="Consolas"/>
              </a:rPr>
              <a:t>09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576072"/>
            <a:ext cx="64008" cy="18288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548640"/>
            <a:ext cx="10332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0E676"/>
                </a:solidFill>
                <a:latin typeface="Consolas"/>
              </a:rPr>
              <a:t>OFFLINE-FIRST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950976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AF3EF"/>
                </a:solidFill>
                <a:latin typeface="Segoe UI"/>
              </a:rPr>
              <a:t>Works fully offline, reconciles when online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" y="1627632"/>
            <a:ext cx="603504" cy="4572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1664208"/>
            <a:ext cx="10515600" cy="10972"/>
          </a:xfrm>
          <a:prstGeom prst="rect">
            <a:avLst/>
          </a:prstGeom>
          <a:solidFill>
            <a:srgbClr val="223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22960" y="1956816"/>
            <a:ext cx="5166360" cy="3154680"/>
          </a:xfrm>
          <a:prstGeom prst="roundRect">
            <a:avLst/>
          </a:prstGeom>
          <a:solidFill>
            <a:srgbClr val="111714"/>
          </a:solidFill>
          <a:ln w="15875">
            <a:solidFill>
              <a:srgbClr val="2F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24128" y="2176272"/>
            <a:ext cx="292608" cy="64008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4128" y="2322576"/>
            <a:ext cx="47640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00E676"/>
                </a:solidFill>
                <a:latin typeface="Consolas"/>
              </a:rPr>
              <a:t>ON DEVICE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2761488"/>
            <a:ext cx="475488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50" b="1">
                <a:solidFill>
                  <a:srgbClr val="00E676"/>
                </a:solidFill>
                <a:latin typeface="Segoe UI"/>
              </a:rPr>
              <a:t>▸  </a:t>
            </a:r>
            <a:r>
              <a:rPr sz="1350" b="0">
                <a:solidFill>
                  <a:srgbClr val="EAF3EF"/>
                </a:solidFill>
                <a:latin typeface="Segoe UI"/>
              </a:rPr>
              <a:t>SQLite: face_embeddings (encrypted, permanent)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50" b="1">
                <a:solidFill>
                  <a:srgbClr val="00E676"/>
                </a:solidFill>
                <a:latin typeface="Segoe UI"/>
              </a:rPr>
              <a:t>▸  </a:t>
            </a:r>
            <a:r>
              <a:rPr sz="1350" b="0">
                <a:solidFill>
                  <a:srgbClr val="EAF3EF"/>
                </a:solidFill>
                <a:latin typeface="Segoe UI"/>
              </a:rPr>
              <a:t>SQLite: attendance_log (ephemeral queue)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50" b="1">
                <a:solidFill>
                  <a:srgbClr val="00E676"/>
                </a:solidFill>
                <a:latin typeface="Segoe UI"/>
              </a:rPr>
              <a:t>▸  </a:t>
            </a:r>
            <a:r>
              <a:rPr sz="1350" b="0">
                <a:solidFill>
                  <a:srgbClr val="EAF3EF"/>
                </a:solidFill>
                <a:latin typeface="Segoe UI"/>
              </a:rPr>
              <a:t>Enrol · authenticate · log, all offline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1956816"/>
            <a:ext cx="5166360" cy="3154680"/>
          </a:xfrm>
          <a:prstGeom prst="roundRect">
            <a:avLst/>
          </a:prstGeom>
          <a:solidFill>
            <a:srgbClr val="111714"/>
          </a:solidFill>
          <a:ln w="15875">
            <a:solidFill>
              <a:srgbClr val="2F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73368" y="2176272"/>
            <a:ext cx="292608" cy="64008"/>
          </a:xfrm>
          <a:prstGeom prst="rect">
            <a:avLst/>
          </a:prstGeom>
          <a:solidFill>
            <a:srgbClr val="FFB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3368" y="2322576"/>
            <a:ext cx="47640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B300"/>
                </a:solidFill>
                <a:latin typeface="Consolas"/>
              </a:rPr>
              <a:t>SYNC &amp; PURGE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761488"/>
            <a:ext cx="475488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50" b="1">
                <a:solidFill>
                  <a:srgbClr val="FFB300"/>
                </a:solidFill>
                <a:latin typeface="Segoe UI"/>
              </a:rPr>
              <a:t>▸  </a:t>
            </a:r>
            <a:r>
              <a:rPr sz="1350" b="0">
                <a:solidFill>
                  <a:srgbClr val="EAF3EF"/>
                </a:solidFill>
                <a:latin typeface="Segoe UI"/>
              </a:rPr>
              <a:t>NetInfo detects reconnect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50" b="1">
                <a:solidFill>
                  <a:srgbClr val="FFB300"/>
                </a:solidFill>
                <a:latin typeface="Segoe UI"/>
              </a:rPr>
              <a:t>▸  </a:t>
            </a:r>
            <a:r>
              <a:rPr sz="1350" b="0">
                <a:solidFill>
                  <a:srgbClr val="EAF3EF"/>
                </a:solidFill>
                <a:latin typeface="Segoe UI"/>
              </a:rPr>
              <a:t>Batch ≤ 10 → presigned S3 PUT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50" b="1">
                <a:solidFill>
                  <a:srgbClr val="FFB300"/>
                </a:solidFill>
                <a:latin typeface="Segoe UI"/>
              </a:rPr>
              <a:t>▸  </a:t>
            </a:r>
            <a:r>
              <a:rPr sz="1350" b="0">
                <a:solidFill>
                  <a:srgbClr val="EAF3EF"/>
                </a:solidFill>
                <a:latin typeface="Segoe UI"/>
              </a:rPr>
              <a:t>On 200 → delete local row (purge)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50" b="1">
                <a:solidFill>
                  <a:srgbClr val="FFB300"/>
                </a:solidFill>
                <a:latin typeface="Segoe UI"/>
              </a:rPr>
              <a:t>▸  </a:t>
            </a:r>
            <a:r>
              <a:rPr sz="1350" b="0">
                <a:solidFill>
                  <a:srgbClr val="EAF3EF"/>
                </a:solidFill>
                <a:latin typeface="Segoe UI"/>
              </a:rPr>
              <a:t>Exponential backoff; 403 → refresh URL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3035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8DA39B"/>
                </a:solidFill>
                <a:latin typeface="Segoe UI"/>
              </a:rPr>
              <a:t>Devices stay lean; the server becomes the single source of truth.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6291072"/>
            <a:ext cx="10515600" cy="10972"/>
          </a:xfrm>
          <a:prstGeom prst="rect">
            <a:avLst/>
          </a:prstGeom>
          <a:solidFill>
            <a:srgbClr val="223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391656"/>
            <a:ext cx="73152" cy="155448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6364224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726A"/>
                </a:solidFill>
                <a:latin typeface="Consolas"/>
              </a:rPr>
              <a:t>OFFLINE·ID</a:t>
            </a:r>
            <a:r>
              <a:rPr sz="900" b="0">
                <a:solidFill>
                  <a:srgbClr val="5C726A"/>
                </a:solidFill>
                <a:latin typeface="Consolas"/>
              </a:rPr>
              <a:t>   NHAI HACKATHON 7.0 · DATALAKE 3.0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64224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726A"/>
                </a:solidFill>
                <a:latin typeface="Consolas"/>
              </a:rPr>
              <a:t>10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576072"/>
            <a:ext cx="64008" cy="18288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548640"/>
            <a:ext cx="10332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0E676"/>
                </a:solidFill>
                <a:latin typeface="Consolas"/>
              </a:rPr>
              <a:t>PERFORMANCE · BENCHMARKS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950976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AF3EF"/>
                </a:solidFill>
                <a:latin typeface="Segoe UI"/>
              </a:rPr>
              <a:t>Measured against every target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" y="1627632"/>
            <a:ext cx="603504" cy="4572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1664208"/>
            <a:ext cx="10515600" cy="10972"/>
          </a:xfrm>
          <a:prstGeom prst="rect">
            <a:avLst/>
          </a:prstGeom>
          <a:solidFill>
            <a:srgbClr val="223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22960" y="1938528"/>
            <a:ext cx="2542032" cy="1783080"/>
          </a:xfrm>
          <a:prstGeom prst="roundRect">
            <a:avLst/>
          </a:prstGeom>
          <a:solidFill>
            <a:srgbClr val="111714"/>
          </a:solidFill>
          <a:ln w="15875">
            <a:solidFill>
              <a:srgbClr val="2F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2103120"/>
            <a:ext cx="2176272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3000" b="1">
                <a:solidFill>
                  <a:srgbClr val="00E676"/>
                </a:solidFill>
                <a:latin typeface="Segoe UI"/>
              </a:rPr>
              <a:t>51 ms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EAF3EF"/>
                </a:solidFill>
                <a:latin typeface="Consolas"/>
              </a:rPr>
              <a:t>HOST-CPU PIPELINE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5C726A"/>
                </a:solidFill>
                <a:latin typeface="Consolas"/>
              </a:rPr>
              <a:t>target &lt; 1 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83863" y="1938528"/>
            <a:ext cx="2542032" cy="1783080"/>
          </a:xfrm>
          <a:prstGeom prst="roundRect">
            <a:avLst/>
          </a:prstGeom>
          <a:solidFill>
            <a:srgbClr val="111714"/>
          </a:solidFill>
          <a:ln w="15875">
            <a:solidFill>
              <a:srgbClr val="2F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85031" y="2103120"/>
            <a:ext cx="2176272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3000" b="1">
                <a:solidFill>
                  <a:srgbClr val="00E676"/>
                </a:solidFill>
                <a:latin typeface="Segoe UI"/>
              </a:rPr>
              <a:t>9.1 MB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EAF3EF"/>
                </a:solidFill>
                <a:latin typeface="Consolas"/>
              </a:rPr>
              <a:t>MODEL BUNDLE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5C726A"/>
                </a:solidFill>
                <a:latin typeface="Consolas"/>
              </a:rPr>
              <a:t>cap 20 MB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44768" y="1938528"/>
            <a:ext cx="2542032" cy="1783080"/>
          </a:xfrm>
          <a:prstGeom prst="roundRect">
            <a:avLst/>
          </a:prstGeom>
          <a:solidFill>
            <a:srgbClr val="111714"/>
          </a:solidFill>
          <a:ln w="15875">
            <a:solidFill>
              <a:srgbClr val="2F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45936" y="2103120"/>
            <a:ext cx="2176272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3000" b="1">
                <a:solidFill>
                  <a:srgbClr val="00E676"/>
                </a:solidFill>
                <a:latin typeface="Segoe UI"/>
              </a:rPr>
              <a:t>99.5%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EAF3EF"/>
                </a:solidFill>
                <a:latin typeface="Consolas"/>
              </a:rPr>
              <a:t>LFW ACCURACY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5C726A"/>
                </a:solidFill>
                <a:latin typeface="Consolas"/>
              </a:rPr>
              <a:t>target &gt; 95%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05672" y="1938528"/>
            <a:ext cx="2542032" cy="1783080"/>
          </a:xfrm>
          <a:prstGeom prst="roundRect">
            <a:avLst/>
          </a:prstGeom>
          <a:solidFill>
            <a:srgbClr val="111714"/>
          </a:solidFill>
          <a:ln w="15875">
            <a:solidFill>
              <a:srgbClr val="2F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06840" y="2103120"/>
            <a:ext cx="2176272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3000" b="1">
                <a:solidFill>
                  <a:srgbClr val="00E676"/>
                </a:solidFill>
                <a:latin typeface="Segoe UI"/>
              </a:rPr>
              <a:t>100%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EAF3EF"/>
                </a:solidFill>
                <a:latin typeface="Consolas"/>
              </a:rPr>
              <a:t>OFFLINE CAPABLE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5C726A"/>
                </a:solidFill>
                <a:latin typeface="Consolas"/>
              </a:rPr>
              <a:t>zero network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822960" y="3950208"/>
          <a:ext cx="10515600" cy="16276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06240"/>
                <a:gridCol w="1828800"/>
                <a:gridCol w="2331720"/>
                <a:gridCol w="2148840"/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00E676"/>
                          </a:solidFill>
                          <a:latin typeface="Segoe UI"/>
                        </a:rPr>
                        <a:t>Model</a:t>
                      </a:r>
                    </a:p>
                  </a:txBody>
                  <a:tcPr marL="128016" marR="73152" marT="18288" marB="18288" anchor="ctr">
                    <a:solidFill>
                      <a:srgbClr val="0B3D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00E676"/>
                          </a:solidFill>
                          <a:latin typeface="Segoe UI"/>
                        </a:rPr>
                        <a:t>Size</a:t>
                      </a:r>
                    </a:p>
                  </a:txBody>
                  <a:tcPr marL="128016" marR="73152" marT="18288" marB="18288" anchor="ctr">
                    <a:solidFill>
                      <a:srgbClr val="0B3D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00E676"/>
                          </a:solidFill>
                          <a:latin typeface="Segoe UI"/>
                        </a:rPr>
                        <a:t>Avg</a:t>
                      </a:r>
                    </a:p>
                  </a:txBody>
                  <a:tcPr marL="128016" marR="73152" marT="18288" marB="18288" anchor="ctr">
                    <a:solidFill>
                      <a:srgbClr val="0B3D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00E676"/>
                          </a:solidFill>
                          <a:latin typeface="Segoe UI"/>
                        </a:rPr>
                        <a:t>P95</a:t>
                      </a:r>
                    </a:p>
                  </a:txBody>
                  <a:tcPr marL="128016" marR="73152" marT="18288" marB="18288" anchor="ctr">
                    <a:solidFill>
                      <a:srgbClr val="0B3D2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AF3EF"/>
                          </a:solidFill>
                          <a:latin typeface="Segoe UI"/>
                        </a:rPr>
                        <a:t>SCRFD-500M (detect)</a:t>
                      </a:r>
                    </a:p>
                  </a:txBody>
                  <a:tcPr marL="128016" marR="73152" marT="18288" marB="18288" anchor="ctr">
                    <a:solidFill>
                      <a:srgbClr val="11171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8DA39B"/>
                          </a:solidFill>
                          <a:latin typeface="Consolas"/>
                        </a:rPr>
                        <a:t>2.41 MB</a:t>
                      </a:r>
                    </a:p>
                  </a:txBody>
                  <a:tcPr marL="128016" marR="73152" marT="18288" marB="18288" anchor="ctr">
                    <a:solidFill>
                      <a:srgbClr val="11171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8DA39B"/>
                          </a:solidFill>
                          <a:latin typeface="Consolas"/>
                        </a:rPr>
                        <a:t>6.1 ms</a:t>
                      </a:r>
                    </a:p>
                  </a:txBody>
                  <a:tcPr marL="128016" marR="73152" marT="18288" marB="18288" anchor="ctr">
                    <a:solidFill>
                      <a:srgbClr val="11171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8DA39B"/>
                          </a:solidFill>
                          <a:latin typeface="Consolas"/>
                        </a:rPr>
                        <a:t>7.5 ms</a:t>
                      </a:r>
                    </a:p>
                  </a:txBody>
                  <a:tcPr marL="128016" marR="73152" marT="18288" marB="18288" anchor="ctr">
                    <a:solidFill>
                      <a:srgbClr val="11171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AF3EF"/>
                          </a:solidFill>
                          <a:latin typeface="Segoe UI"/>
                        </a:rPr>
                        <a:t>MobileFaceNet INT8 (embed)</a:t>
                      </a:r>
                    </a:p>
                  </a:txBody>
                  <a:tcPr marL="128016" marR="73152" marT="18288" marB="18288" anchor="ctr">
                    <a:solidFill>
                      <a:srgbClr val="161D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8DA39B"/>
                          </a:solidFill>
                          <a:latin typeface="Consolas"/>
                        </a:rPr>
                        <a:t>3.35 MB</a:t>
                      </a:r>
                    </a:p>
                  </a:txBody>
                  <a:tcPr marL="128016" marR="73152" marT="18288" marB="18288" anchor="ctr">
                    <a:solidFill>
                      <a:srgbClr val="161D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8DA39B"/>
                          </a:solidFill>
                          <a:latin typeface="Consolas"/>
                        </a:rPr>
                        <a:t>43.6 ms</a:t>
                      </a:r>
                    </a:p>
                  </a:txBody>
                  <a:tcPr marL="128016" marR="73152" marT="18288" marB="18288" anchor="ctr">
                    <a:solidFill>
                      <a:srgbClr val="161D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8DA39B"/>
                          </a:solidFill>
                          <a:latin typeface="Consolas"/>
                        </a:rPr>
                        <a:t>49.5 ms</a:t>
                      </a:r>
                    </a:p>
                  </a:txBody>
                  <a:tcPr marL="128016" marR="73152" marT="18288" marB="18288" anchor="ctr">
                    <a:solidFill>
                      <a:srgbClr val="161D1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AF3EF"/>
                          </a:solidFill>
                          <a:latin typeface="Segoe UI"/>
                        </a:rPr>
                        <a:t>MiniFASNet 2.7 / 4.0 (liveness)</a:t>
                      </a:r>
                    </a:p>
                  </a:txBody>
                  <a:tcPr marL="128016" marR="73152" marT="18288" marB="18288" anchor="ctr">
                    <a:solidFill>
                      <a:srgbClr val="11171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8DA39B"/>
                          </a:solidFill>
                          <a:latin typeface="Consolas"/>
                        </a:rPr>
                        <a:t>1.66 MB</a:t>
                      </a:r>
                    </a:p>
                  </a:txBody>
                  <a:tcPr marL="128016" marR="73152" marT="18288" marB="18288" anchor="ctr">
                    <a:solidFill>
                      <a:srgbClr val="11171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8DA39B"/>
                          </a:solidFill>
                          <a:latin typeface="Consolas"/>
                        </a:rPr>
                        <a:t>1.5 ms</a:t>
                      </a:r>
                    </a:p>
                  </a:txBody>
                  <a:tcPr marL="128016" marR="73152" marT="18288" marB="18288" anchor="ctr">
                    <a:solidFill>
                      <a:srgbClr val="11171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8DA39B"/>
                          </a:solidFill>
                          <a:latin typeface="Consolas"/>
                        </a:rPr>
                        <a:t>2.1 ms</a:t>
                      </a:r>
                    </a:p>
                  </a:txBody>
                  <a:tcPr marL="128016" marR="73152" marT="18288" marB="18288" anchor="ctr">
                    <a:solidFill>
                      <a:srgbClr val="111714"/>
                    </a:solidFill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822960" y="5687568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8DA39B"/>
                </a:solidFill>
                <a:latin typeface="Segoe UI"/>
              </a:rPr>
              <a:t>Host CPU · ONNX Runtime.  Pipeline = detect + 2× liveness + embed; add align &amp; cosine &lt; 10 ms for end-to-end.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8DA39B"/>
                </a:solidFill>
                <a:latin typeface="Segoe UI"/>
              </a:rPr>
              <a:t>App footprint on Datalake ≈ 12.6 MB (9.1 MB models + 3.5 MB runtime).  INT8 vs FP32 cosine &gt; 0.99 on aligned faces.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6291072"/>
            <a:ext cx="10515600" cy="10972"/>
          </a:xfrm>
          <a:prstGeom prst="rect">
            <a:avLst/>
          </a:prstGeom>
          <a:solidFill>
            <a:srgbClr val="223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391656"/>
            <a:ext cx="73152" cy="155448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6364224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726A"/>
                </a:solidFill>
                <a:latin typeface="Consolas"/>
              </a:rPr>
              <a:t>OFFLINE·ID</a:t>
            </a:r>
            <a:r>
              <a:rPr sz="900" b="0">
                <a:solidFill>
                  <a:srgbClr val="5C726A"/>
                </a:solidFill>
                <a:latin typeface="Consolas"/>
              </a:rPr>
              <a:t>   NHAI HACKATHON 7.0 · DATALAKE 3.0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64224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726A"/>
                </a:solidFill>
                <a:latin typeface="Consolas"/>
              </a:rPr>
              <a:t>11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576072"/>
            <a:ext cx="64008" cy="18288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548640"/>
            <a:ext cx="10332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0E676"/>
                </a:solidFill>
                <a:latin typeface="Consolas"/>
              </a:rPr>
              <a:t>ARCHITECTURE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950976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AF3EF"/>
                </a:solidFill>
                <a:latin typeface="Segoe UI"/>
              </a:rPr>
              <a:t>React Native UI over a native ONNX engine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" y="1627632"/>
            <a:ext cx="603504" cy="4572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1664208"/>
            <a:ext cx="10515600" cy="10972"/>
          </a:xfrm>
          <a:prstGeom prst="rect">
            <a:avLst/>
          </a:prstGeom>
          <a:solidFill>
            <a:srgbClr val="223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22960" y="1892807"/>
            <a:ext cx="10515600" cy="676656"/>
          </a:xfrm>
          <a:prstGeom prst="roundRect">
            <a:avLst/>
          </a:prstGeom>
          <a:solidFill>
            <a:srgbClr val="111714"/>
          </a:solidFill>
          <a:ln w="15875">
            <a:solidFill>
              <a:srgbClr val="00E6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" y="2002536"/>
            <a:ext cx="64008" cy="45720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0704" y="1984248"/>
            <a:ext cx="10094976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EAF3EF"/>
                </a:solidFill>
                <a:latin typeface="Segoe UI"/>
              </a:rPr>
              <a:t>UI · React Native + TypeScript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8DA39B"/>
                </a:solidFill>
                <a:latin typeface="Consolas"/>
              </a:rPr>
              <a:t>Scan · Enrol · People · Sync · System screens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5934456" y="2551175"/>
            <a:ext cx="292608" cy="237744"/>
          </a:xfrm>
          <a:prstGeom prst="downArrow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2960" y="2770632"/>
            <a:ext cx="10515600" cy="676656"/>
          </a:xfrm>
          <a:prstGeom prst="roundRect">
            <a:avLst/>
          </a:prstGeom>
          <a:solidFill>
            <a:srgbClr val="111714"/>
          </a:solidFill>
          <a:ln w="15875">
            <a:solidFill>
              <a:srgbClr val="4FC3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" y="2880360"/>
            <a:ext cx="64008" cy="457200"/>
          </a:xfrm>
          <a:prstGeom prst="rect">
            <a:avLst/>
          </a:prstGeom>
          <a:solidFill>
            <a:srgbClr val="4FC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2862072"/>
            <a:ext cx="10094976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EAF3EF"/>
                </a:solidFill>
                <a:latin typeface="Segoe UI"/>
              </a:rPr>
              <a:t>Orchestration · useFaceAuth hook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8DA39B"/>
                </a:solidFill>
                <a:latin typeface="Consolas"/>
              </a:rPr>
              <a:t>state machine: detect → liveness → recognise</a:t>
            </a:r>
          </a:p>
        </p:txBody>
      </p:sp>
      <p:sp>
        <p:nvSpPr>
          <p:cNvPr id="19" name="Down Arrow 18"/>
          <p:cNvSpPr/>
          <p:nvPr/>
        </p:nvSpPr>
        <p:spPr>
          <a:xfrm>
            <a:off x="5934456" y="3428999"/>
            <a:ext cx="292608" cy="237744"/>
          </a:xfrm>
          <a:prstGeom prst="downArrow">
            <a:avLst/>
          </a:prstGeom>
          <a:solidFill>
            <a:srgbClr val="4FC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22960" y="3648456"/>
            <a:ext cx="10515600" cy="676656"/>
          </a:xfrm>
          <a:prstGeom prst="roundRect">
            <a:avLst/>
          </a:prstGeom>
          <a:solidFill>
            <a:srgbClr val="111714"/>
          </a:solidFill>
          <a:ln w="15875">
            <a:solidFill>
              <a:srgbClr val="4FC3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2960" y="3758183"/>
            <a:ext cx="64008" cy="457200"/>
          </a:xfrm>
          <a:prstGeom prst="rect">
            <a:avLst/>
          </a:prstGeom>
          <a:solidFill>
            <a:srgbClr val="4FC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0704" y="3739896"/>
            <a:ext cx="10094976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EAF3EF"/>
                </a:solidFill>
                <a:latin typeface="Segoe UI"/>
              </a:rPr>
              <a:t>Services (JS)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8DA39B"/>
                </a:solidFill>
                <a:latin typeface="Consolas"/>
              </a:rPr>
              <a:t>FaceEngine bridge · Liveness · Stores · Sync</a:t>
            </a:r>
          </a:p>
        </p:txBody>
      </p:sp>
      <p:sp>
        <p:nvSpPr>
          <p:cNvPr id="23" name="Down Arrow 22"/>
          <p:cNvSpPr/>
          <p:nvPr/>
        </p:nvSpPr>
        <p:spPr>
          <a:xfrm>
            <a:off x="5934456" y="4306824"/>
            <a:ext cx="292608" cy="237744"/>
          </a:xfrm>
          <a:prstGeom prst="downArrow">
            <a:avLst/>
          </a:prstGeom>
          <a:solidFill>
            <a:srgbClr val="4FC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22960" y="4526279"/>
            <a:ext cx="10515600" cy="676656"/>
          </a:xfrm>
          <a:prstGeom prst="roundRect">
            <a:avLst/>
          </a:prstGeom>
          <a:solidFill>
            <a:srgbClr val="111714"/>
          </a:solidFill>
          <a:ln w="15875">
            <a:solidFill>
              <a:srgbClr val="00E6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22960" y="4636007"/>
            <a:ext cx="64008" cy="45720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60704" y="4617719"/>
            <a:ext cx="10094976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EAF3EF"/>
                </a:solidFill>
                <a:latin typeface="Segoe UI"/>
              </a:rPr>
              <a:t>Native engine · Kotlin (Android) / Swift (iOS)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8DA39B"/>
                </a:solidFill>
                <a:latin typeface="Consolas"/>
              </a:rPr>
              <a:t>ONNX Runtime: detect · liveness · embed</a:t>
            </a:r>
          </a:p>
        </p:txBody>
      </p:sp>
      <p:sp>
        <p:nvSpPr>
          <p:cNvPr id="27" name="Down Arrow 26"/>
          <p:cNvSpPr/>
          <p:nvPr/>
        </p:nvSpPr>
        <p:spPr>
          <a:xfrm>
            <a:off x="5934456" y="5184648"/>
            <a:ext cx="292608" cy="237744"/>
          </a:xfrm>
          <a:prstGeom prst="downArrow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22960" y="5404103"/>
            <a:ext cx="10515600" cy="676656"/>
          </a:xfrm>
          <a:prstGeom prst="roundRect">
            <a:avLst/>
          </a:prstGeom>
          <a:solidFill>
            <a:srgbClr val="111714"/>
          </a:solidFill>
          <a:ln w="15875">
            <a:solidFill>
              <a:srgbClr val="FFB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2960" y="5513831"/>
            <a:ext cx="64008" cy="457200"/>
          </a:xfrm>
          <a:prstGeom prst="rect">
            <a:avLst/>
          </a:prstGeom>
          <a:solidFill>
            <a:srgbClr val="FFB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60704" y="5495543"/>
            <a:ext cx="10094976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EAF3EF"/>
                </a:solidFill>
                <a:latin typeface="Segoe UI"/>
              </a:rPr>
              <a:t>Storage · SQLite + Keystore + AWS S3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8DA39B"/>
                </a:solidFill>
                <a:latin typeface="Consolas"/>
              </a:rPr>
              <a:t>encrypted faceprints · attendance queue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6291072"/>
            <a:ext cx="10515600" cy="10972"/>
          </a:xfrm>
          <a:prstGeom prst="rect">
            <a:avLst/>
          </a:prstGeom>
          <a:solidFill>
            <a:srgbClr val="223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391656"/>
            <a:ext cx="73152" cy="155448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6364224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726A"/>
                </a:solidFill>
                <a:latin typeface="Consolas"/>
              </a:rPr>
              <a:t>OFFLINE·ID</a:t>
            </a:r>
            <a:r>
              <a:rPr sz="900" b="0">
                <a:solidFill>
                  <a:srgbClr val="5C726A"/>
                </a:solidFill>
                <a:latin typeface="Consolas"/>
              </a:rPr>
              <a:t>   NHAI HACKATHON 7.0 · DATALAKE 3.0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64224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726A"/>
                </a:solidFill>
                <a:latin typeface="Consolas"/>
              </a:rPr>
              <a:t>12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576072"/>
            <a:ext cx="64008" cy="18288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548640"/>
            <a:ext cx="10332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0E676"/>
                </a:solidFill>
                <a:latin typeface="Consolas"/>
              </a:rPr>
              <a:t>FEASIBILITY · 30 MARKS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950976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AF3EF"/>
                </a:solidFill>
                <a:latin typeface="Segoe UI"/>
              </a:rPr>
              <a:t>Drops into Datalake 3.0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" y="1627632"/>
            <a:ext cx="603504" cy="4572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1664208"/>
            <a:ext cx="10515600" cy="10972"/>
          </a:xfrm>
          <a:prstGeom prst="rect">
            <a:avLst/>
          </a:prstGeom>
          <a:solidFill>
            <a:srgbClr val="223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892807"/>
            <a:ext cx="1060704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550" b="1">
                <a:solidFill>
                  <a:srgbClr val="00E676"/>
                </a:solidFill>
                <a:latin typeface="Segoe UI"/>
              </a:rPr>
              <a:t>▸  </a:t>
            </a:r>
            <a:r>
              <a:rPr sz="1550" b="1">
                <a:solidFill>
                  <a:srgbClr val="EAF3EF"/>
                </a:solidFill>
                <a:latin typeface="Segoe UI"/>
              </a:rPr>
              <a:t>Register one native package.</a:t>
            </a:r>
            <a:r>
              <a:rPr sz="1550" b="0">
                <a:solidFill>
                  <a:srgbClr val="8DA39B"/>
                </a:solidFill>
                <a:latin typeface="Segoe UI"/>
              </a:rPr>
              <a:t>  add FaceEnginePackage() (Android) / link the Swift module (iOS).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550" b="1">
                <a:solidFill>
                  <a:srgbClr val="00E676"/>
                </a:solidFill>
                <a:latin typeface="Segoe UI"/>
              </a:rPr>
              <a:t>▸  </a:t>
            </a:r>
            <a:r>
              <a:rPr sz="1550" b="1">
                <a:solidFill>
                  <a:srgbClr val="EAF3EF"/>
                </a:solidFill>
                <a:latin typeface="Segoe UI"/>
              </a:rPr>
              <a:t>Add the ONNX dependency + 4 model assets.</a:t>
            </a:r>
            <a:r>
              <a:rPr sz="1550" b="0">
                <a:solidFill>
                  <a:srgbClr val="8DA39B"/>
                </a:solidFill>
                <a:latin typeface="Segoe UI"/>
              </a:rPr>
              <a:t>  ≈ 12.6 MB total.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550" b="1">
                <a:solidFill>
                  <a:srgbClr val="00E676"/>
                </a:solidFill>
                <a:latin typeface="Segoe UI"/>
              </a:rPr>
              <a:t>▸  </a:t>
            </a:r>
            <a:r>
              <a:rPr sz="1550" b="1">
                <a:solidFill>
                  <a:srgbClr val="EAF3EF"/>
                </a:solidFill>
                <a:latin typeface="Segoe UI"/>
              </a:rPr>
              <a:t>Import the screens &amp; services.</a:t>
            </a:r>
            <a:r>
              <a:rPr sz="1550" b="0">
                <a:solidFill>
                  <a:srgbClr val="8DA39B"/>
                </a:solidFill>
                <a:latin typeface="Segoe UI"/>
              </a:rPr>
              <a:t>  Auth / Enrol / Sync mount in the existing navigator.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550" b="1">
                <a:solidFill>
                  <a:srgbClr val="00E676"/>
                </a:solidFill>
                <a:latin typeface="Segoe UI"/>
              </a:rPr>
              <a:t>▸  </a:t>
            </a:r>
            <a:r>
              <a:rPr sz="1550" b="1">
                <a:solidFill>
                  <a:srgbClr val="EAF3EF"/>
                </a:solidFill>
                <a:latin typeface="Segoe UI"/>
              </a:rPr>
              <a:t>Point SYNC_BASE_URL at a presigned endpoint.</a:t>
            </a:r>
            <a:r>
              <a:rPr sz="1550" b="0">
                <a:solidFill>
                  <a:srgbClr val="8DA39B"/>
                </a:solidFill>
                <a:latin typeface="Segoe UI"/>
              </a:rPr>
              <a:t>  the only backend touchpoint.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550" b="1">
                <a:solidFill>
                  <a:srgbClr val="00E676"/>
                </a:solidFill>
                <a:latin typeface="Segoe UI"/>
              </a:rPr>
              <a:t>▸  </a:t>
            </a:r>
            <a:r>
              <a:rPr sz="1550" b="1">
                <a:solidFill>
                  <a:srgbClr val="EAF3EF"/>
                </a:solidFill>
                <a:latin typeface="Segoe UI"/>
              </a:rPr>
              <a:t>Zero changes to the offline auth path.</a:t>
            </a:r>
            <a:r>
              <a:rPr sz="1550" b="0">
                <a:solidFill>
                  <a:srgbClr val="8DA39B"/>
                </a:solidFill>
                <a:latin typeface="Segoe UI"/>
              </a:rPr>
              <a:t>  no other Datalake backend work.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5047488"/>
            <a:ext cx="10515600" cy="914400"/>
          </a:xfrm>
          <a:prstGeom prst="roundRect">
            <a:avLst/>
          </a:prstGeom>
          <a:solidFill>
            <a:srgbClr val="161D1A"/>
          </a:solidFill>
          <a:ln w="15875">
            <a:solidFill>
              <a:srgbClr val="00E6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2960" y="5047488"/>
            <a:ext cx="73152" cy="91440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5157216"/>
            <a:ext cx="100584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EAF3EF"/>
                </a:solidFill>
                <a:latin typeface="Segoe UI"/>
              </a:rPr>
              <a:t>iOS engine is written </a:t>
            </a:r>
            <a:r>
              <a:rPr sz="1400" b="1">
                <a:solidFill>
                  <a:srgbClr val="00E676"/>
                </a:solidFill>
                <a:latin typeface="Consolas"/>
              </a:rPr>
              <a:t>(ios/FaceEngine/, a 1:1 Swift port, same models &amp; math)</a:t>
            </a:r>
            <a:r>
              <a:rPr sz="1400" b="0">
                <a:solidFill>
                  <a:srgbClr val="EAF3EF"/>
                </a:solidFill>
                <a:latin typeface="Segoe UI"/>
              </a:rPr>
              <a:t>; remaining work is one-time Xcode build wiring on a Mac.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6291072"/>
            <a:ext cx="10515600" cy="10972"/>
          </a:xfrm>
          <a:prstGeom prst="rect">
            <a:avLst/>
          </a:prstGeom>
          <a:solidFill>
            <a:srgbClr val="223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391656"/>
            <a:ext cx="73152" cy="155448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6364224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726A"/>
                </a:solidFill>
                <a:latin typeface="Consolas"/>
              </a:rPr>
              <a:t>OFFLINE·ID</a:t>
            </a:r>
            <a:r>
              <a:rPr sz="900" b="0">
                <a:solidFill>
                  <a:srgbClr val="5C726A"/>
                </a:solidFill>
                <a:latin typeface="Consolas"/>
              </a:rPr>
              <a:t>   NHAI HACKATHON 7.0 · DATALAKE 3.0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64224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726A"/>
                </a:solidFill>
                <a:latin typeface="Consolas"/>
              </a:rPr>
              <a:t>13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576072"/>
            <a:ext cx="64008" cy="18288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548640"/>
            <a:ext cx="10332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0E676"/>
                </a:solidFill>
                <a:latin typeface="Consolas"/>
              </a:rPr>
              <a:t>ENGINEERING QUALITY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950976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AF3EF"/>
                </a:solidFill>
                <a:latin typeface="Segoe UI"/>
              </a:rPr>
              <a:t>Open-source, typed, tested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" y="1627632"/>
            <a:ext cx="603504" cy="4572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1664208"/>
            <a:ext cx="10515600" cy="10972"/>
          </a:xfrm>
          <a:prstGeom prst="rect">
            <a:avLst/>
          </a:prstGeom>
          <a:solidFill>
            <a:srgbClr val="223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938528"/>
            <a:ext cx="1060704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</a:pPr>
            <a:r>
              <a:rPr sz="1600" b="1">
                <a:solidFill>
                  <a:srgbClr val="00E676"/>
                </a:solidFill>
                <a:latin typeface="Segoe UI"/>
              </a:rPr>
              <a:t>▸  </a:t>
            </a:r>
            <a:r>
              <a:rPr sz="1600" b="1">
                <a:solidFill>
                  <a:srgbClr val="EAF3EF"/>
                </a:solidFill>
                <a:latin typeface="Segoe UI"/>
              </a:rPr>
              <a:t>Open-source only.</a:t>
            </a:r>
            <a:r>
              <a:rPr sz="1600" b="0">
                <a:solidFill>
                  <a:srgbClr val="8DA39B"/>
                </a:solidFill>
                <a:latin typeface="Segoe UI"/>
              </a:rPr>
              <a:t>  MIT / Apache stack, no paid licences, source shared.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</a:pPr>
            <a:r>
              <a:rPr sz="1600" b="1">
                <a:solidFill>
                  <a:srgbClr val="00E676"/>
                </a:solidFill>
                <a:latin typeface="Segoe UI"/>
              </a:rPr>
              <a:t>▸  </a:t>
            </a:r>
            <a:r>
              <a:rPr sz="1600" b="1">
                <a:solidFill>
                  <a:srgbClr val="EAF3EF"/>
                </a:solidFill>
                <a:latin typeface="Segoe UI"/>
              </a:rPr>
              <a:t>TypeScript strict.</a:t>
            </a:r>
            <a:r>
              <a:rPr sz="1600" b="0">
                <a:solidFill>
                  <a:srgbClr val="8DA39B"/>
                </a:solidFill>
                <a:latin typeface="Segoe UI"/>
              </a:rPr>
              <a:t>  typecheck clean; 15 unit tests passing.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</a:pPr>
            <a:r>
              <a:rPr sz="1600" b="1">
                <a:solidFill>
                  <a:srgbClr val="00E676"/>
                </a:solidFill>
                <a:latin typeface="Segoe UI"/>
              </a:rPr>
              <a:t>▸  </a:t>
            </a:r>
            <a:r>
              <a:rPr sz="1600" b="1">
                <a:solidFill>
                  <a:srgbClr val="EAF3EF"/>
                </a:solidFill>
                <a:latin typeface="Segoe UI"/>
              </a:rPr>
              <a:t>Standalone offline APK.</a:t>
            </a:r>
            <a:r>
              <a:rPr sz="1600" b="0">
                <a:solidFill>
                  <a:srgbClr val="8DA39B"/>
                </a:solidFill>
                <a:latin typeface="Segoe UI"/>
              </a:rPr>
              <a:t>  release build embeds JS; runs in airplane mode, no Metro.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</a:pPr>
            <a:r>
              <a:rPr sz="1600" b="1">
                <a:solidFill>
                  <a:srgbClr val="00E676"/>
                </a:solidFill>
                <a:latin typeface="Segoe UI"/>
              </a:rPr>
              <a:t>▸  </a:t>
            </a:r>
            <a:r>
              <a:rPr sz="1600" b="1">
                <a:solidFill>
                  <a:srgbClr val="EAF3EF"/>
                </a:solidFill>
                <a:latin typeface="Segoe UI"/>
              </a:rPr>
              <a:t>Reproducible models.</a:t>
            </a:r>
            <a:r>
              <a:rPr sz="1600" b="0">
                <a:solidFill>
                  <a:srgbClr val="8DA39B"/>
                </a:solidFill>
                <a:latin typeface="Segoe UI"/>
              </a:rPr>
              <a:t>  Python export + validation scripts in the repo.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</a:pPr>
            <a:r>
              <a:rPr sz="1600" b="1">
                <a:solidFill>
                  <a:srgbClr val="00E676"/>
                </a:solidFill>
                <a:latin typeface="Segoe UI"/>
              </a:rPr>
              <a:t>▸  </a:t>
            </a:r>
            <a:r>
              <a:rPr sz="1600" b="1">
                <a:solidFill>
                  <a:srgbClr val="EAF3EF"/>
                </a:solidFill>
                <a:latin typeface="Segoe UI"/>
              </a:rPr>
              <a:t>Documented.</a:t>
            </a:r>
            <a:r>
              <a:rPr sz="1600" b="0">
                <a:solidFill>
                  <a:srgbClr val="8DA39B"/>
                </a:solidFill>
                <a:latin typeface="Segoe UI"/>
              </a:rPr>
              <a:t>  architecture, model pipeline, benchmarks, Datalake integration guide.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6291072"/>
            <a:ext cx="10515600" cy="10972"/>
          </a:xfrm>
          <a:prstGeom prst="rect">
            <a:avLst/>
          </a:prstGeom>
          <a:solidFill>
            <a:srgbClr val="223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391656"/>
            <a:ext cx="73152" cy="155448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6364224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726A"/>
                </a:solidFill>
                <a:latin typeface="Consolas"/>
              </a:rPr>
              <a:t>OFFLINE·ID</a:t>
            </a:r>
            <a:r>
              <a:rPr sz="900" b="0">
                <a:solidFill>
                  <a:srgbClr val="5C726A"/>
                </a:solidFill>
                <a:latin typeface="Consolas"/>
              </a:rPr>
              <a:t>   NHAI HACKATHON 7.0 · DATALAKE 3.0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64224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726A"/>
                </a:solidFill>
                <a:latin typeface="Consolas"/>
              </a:rPr>
              <a:t>14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576072"/>
            <a:ext cx="64008" cy="18288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548640"/>
            <a:ext cx="10332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0E676"/>
                </a:solidFill>
                <a:latin typeface="Consolas"/>
              </a:rPr>
              <a:t>SCALABILITY · SUSTAINABILITY · 20 MARKS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950976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AF3EF"/>
                </a:solidFill>
                <a:latin typeface="Segoe UI"/>
              </a:rPr>
              <a:t>Built to grow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" y="1627632"/>
            <a:ext cx="603504" cy="4572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1664208"/>
            <a:ext cx="10515600" cy="10972"/>
          </a:xfrm>
          <a:prstGeom prst="rect">
            <a:avLst/>
          </a:prstGeom>
          <a:solidFill>
            <a:srgbClr val="223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938528"/>
            <a:ext cx="1060704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</a:pPr>
            <a:r>
              <a:rPr sz="1600" b="1">
                <a:solidFill>
                  <a:srgbClr val="00E676"/>
                </a:solidFill>
                <a:latin typeface="Segoe UI"/>
              </a:rPr>
              <a:t>▸  </a:t>
            </a:r>
            <a:r>
              <a:rPr sz="1600" b="1">
                <a:solidFill>
                  <a:srgbClr val="EAF3EF"/>
                </a:solidFill>
                <a:latin typeface="Segoe UI"/>
              </a:rPr>
              <a:t>Scales to N users.</a:t>
            </a:r>
            <a:r>
              <a:rPr sz="1600" b="0">
                <a:solidFill>
                  <a:srgbClr val="8DA39B"/>
                </a:solidFill>
                <a:latin typeface="Segoe UI"/>
              </a:rPr>
              <a:t>  cosine match &lt; 5 ms at 500 enrolled faces.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</a:pPr>
            <a:r>
              <a:rPr sz="1600" b="1">
                <a:solidFill>
                  <a:srgbClr val="00E676"/>
                </a:solidFill>
                <a:latin typeface="Segoe UI"/>
              </a:rPr>
              <a:t>▸  </a:t>
            </a:r>
            <a:r>
              <a:rPr sz="1600" b="1">
                <a:solidFill>
                  <a:srgbClr val="EAF3EF"/>
                </a:solidFill>
                <a:latin typeface="Segoe UI"/>
              </a:rPr>
              <a:t>Lean by design.</a:t>
            </a:r>
            <a:r>
              <a:rPr sz="1600" b="0">
                <a:solidFill>
                  <a:srgbClr val="8DA39B"/>
                </a:solidFill>
                <a:latin typeface="Segoe UI"/>
              </a:rPr>
              <a:t>  SQLite queue → batch S3 → purge keeps storage flat.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</a:pPr>
            <a:r>
              <a:rPr sz="1600" b="1">
                <a:solidFill>
                  <a:srgbClr val="00E676"/>
                </a:solidFill>
                <a:latin typeface="Segoe UI"/>
              </a:rPr>
              <a:t>▸  </a:t>
            </a:r>
            <a:r>
              <a:rPr sz="1600" b="1">
                <a:solidFill>
                  <a:srgbClr val="EAF3EF"/>
                </a:solidFill>
                <a:latin typeface="Segoe UI"/>
              </a:rPr>
              <a:t>Swappable models.</a:t>
            </a:r>
            <a:r>
              <a:rPr sz="1600" b="0">
                <a:solidFill>
                  <a:srgbClr val="8DA39B"/>
                </a:solidFill>
                <a:latin typeface="Segoe UI"/>
              </a:rPr>
              <a:t>  update accuracy by replacing ONNX files, 8 MB headroom.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</a:pPr>
            <a:r>
              <a:rPr sz="1600" b="1">
                <a:solidFill>
                  <a:srgbClr val="00E676"/>
                </a:solidFill>
                <a:latin typeface="Segoe UI"/>
              </a:rPr>
              <a:t>▸  </a:t>
            </a:r>
            <a:r>
              <a:rPr sz="1600" b="1">
                <a:solidFill>
                  <a:srgbClr val="EAF3EF"/>
                </a:solidFill>
                <a:latin typeface="Segoe UI"/>
              </a:rPr>
              <a:t>Demographic tuning.</a:t>
            </a:r>
            <a:r>
              <a:rPr sz="1600" b="0">
                <a:solidFill>
                  <a:srgbClr val="8DA39B"/>
                </a:solidFill>
                <a:latin typeface="Segoe UI"/>
              </a:rPr>
              <a:t>  on-device fine-tune on an Indian face subset (roadmap).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</a:pPr>
            <a:r>
              <a:rPr sz="1600" b="1">
                <a:solidFill>
                  <a:srgbClr val="00E676"/>
                </a:solidFill>
                <a:latin typeface="Segoe UI"/>
              </a:rPr>
              <a:t>▸  </a:t>
            </a:r>
            <a:r>
              <a:rPr sz="1600" b="1">
                <a:solidFill>
                  <a:srgbClr val="EAF3EF"/>
                </a:solidFill>
                <a:latin typeface="Segoe UI"/>
              </a:rPr>
              <a:t>iOS device build + GPU delegate.</a:t>
            </a:r>
            <a:r>
              <a:rPr sz="1600" b="0">
                <a:solidFill>
                  <a:srgbClr val="8DA39B"/>
                </a:solidFill>
                <a:latin typeface="Segoe UI"/>
              </a:rPr>
              <a:t>  next on the path to full parity.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6291072"/>
            <a:ext cx="10515600" cy="10972"/>
          </a:xfrm>
          <a:prstGeom prst="rect">
            <a:avLst/>
          </a:prstGeom>
          <a:solidFill>
            <a:srgbClr val="223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391656"/>
            <a:ext cx="73152" cy="155448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6364224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726A"/>
                </a:solidFill>
                <a:latin typeface="Consolas"/>
              </a:rPr>
              <a:t>OFFLINE·ID</a:t>
            </a:r>
            <a:r>
              <a:rPr sz="900" b="0">
                <a:solidFill>
                  <a:srgbClr val="5C726A"/>
                </a:solidFill>
                <a:latin typeface="Consolas"/>
              </a:rPr>
              <a:t>   NHAI HACKATHON 7.0 · DATALAKE 3.0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64224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726A"/>
                </a:solidFill>
                <a:latin typeface="Consolas"/>
              </a:rPr>
              <a:t>15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576072"/>
            <a:ext cx="64008" cy="18288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548640"/>
            <a:ext cx="10332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0E676"/>
                </a:solidFill>
                <a:latin typeface="Consolas"/>
              </a:rPr>
              <a:t>SCORING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950976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AF3EF"/>
                </a:solidFill>
                <a:latin typeface="Segoe UI"/>
              </a:rPr>
              <a:t>How OfflineID maps to the rubric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" y="1627632"/>
            <a:ext cx="603504" cy="4572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1664208"/>
            <a:ext cx="10515600" cy="10972"/>
          </a:xfrm>
          <a:prstGeom prst="rect">
            <a:avLst/>
          </a:prstGeom>
          <a:solidFill>
            <a:srgbClr val="223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822960" y="2075688"/>
          <a:ext cx="10515600" cy="2962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06240"/>
                <a:gridCol w="1280160"/>
                <a:gridCol w="5029200"/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00E676"/>
                          </a:solidFill>
                          <a:latin typeface="Segoe UI"/>
                        </a:rPr>
                        <a:t>Criterion</a:t>
                      </a:r>
                    </a:p>
                  </a:txBody>
                  <a:tcPr marL="128016" marR="73152" marT="18288" marB="18288" anchor="ctr">
                    <a:solidFill>
                      <a:srgbClr val="0B3D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00E676"/>
                          </a:solidFill>
                          <a:latin typeface="Segoe UI"/>
                        </a:rPr>
                        <a:t>Marks</a:t>
                      </a:r>
                    </a:p>
                  </a:txBody>
                  <a:tcPr marL="128016" marR="73152" marT="18288" marB="18288" anchor="ctr">
                    <a:solidFill>
                      <a:srgbClr val="0B3D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00E676"/>
                          </a:solidFill>
                          <a:latin typeface="Segoe UI"/>
                        </a:rPr>
                        <a:t>Where we win</a:t>
                      </a:r>
                    </a:p>
                  </a:txBody>
                  <a:tcPr marL="128016" marR="73152" marT="18288" marB="18288" anchor="ctr">
                    <a:solidFill>
                      <a:srgbClr val="0B3D2A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EAF3EF"/>
                          </a:solidFill>
                          <a:latin typeface="Segoe UI"/>
                        </a:rPr>
                        <a:t>Innovation</a:t>
                      </a:r>
                    </a:p>
                  </a:txBody>
                  <a:tcPr marL="128016" marR="73152" marT="18288" marB="18288" anchor="ctr">
                    <a:solidFill>
                      <a:srgbClr val="11171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8DA39B"/>
                          </a:solidFill>
                          <a:latin typeface="Consolas"/>
                        </a:rPr>
                        <a:t>30</a:t>
                      </a:r>
                    </a:p>
                  </a:txBody>
                  <a:tcPr marL="128016" marR="73152" marT="18288" marB="18288" anchor="ctr">
                    <a:solidFill>
                      <a:srgbClr val="11171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8DA39B"/>
                          </a:solidFill>
                          <a:latin typeface="Consolas"/>
                        </a:rPr>
                        <a:t>9.1 MB edge AI · two-layer liveness</a:t>
                      </a:r>
                    </a:p>
                  </a:txBody>
                  <a:tcPr marL="128016" marR="73152" marT="18288" marB="18288" anchor="ctr">
                    <a:solidFill>
                      <a:srgbClr val="111714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EAF3EF"/>
                          </a:solidFill>
                          <a:latin typeface="Segoe UI"/>
                        </a:rPr>
                        <a:t>Feasibility</a:t>
                      </a:r>
                    </a:p>
                  </a:txBody>
                  <a:tcPr marL="128016" marR="73152" marT="18288" marB="18288" anchor="ctr">
                    <a:solidFill>
                      <a:srgbClr val="161D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8DA39B"/>
                          </a:solidFill>
                          <a:latin typeface="Consolas"/>
                        </a:rPr>
                        <a:t>30</a:t>
                      </a:r>
                    </a:p>
                  </a:txBody>
                  <a:tcPr marL="128016" marR="73152" marT="18288" marB="18288" anchor="ctr">
                    <a:solidFill>
                      <a:srgbClr val="161D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8DA39B"/>
                          </a:solidFill>
                          <a:latin typeface="Consolas"/>
                        </a:rPr>
                        <a:t>drops into Datalake 3.0 · ~51 ms · &lt; 1 s</a:t>
                      </a:r>
                    </a:p>
                  </a:txBody>
                  <a:tcPr marL="128016" marR="73152" marT="18288" marB="18288" anchor="ctr">
                    <a:solidFill>
                      <a:srgbClr val="161D1A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EAF3EF"/>
                          </a:solidFill>
                          <a:latin typeface="Segoe UI"/>
                        </a:rPr>
                        <a:t>Scalability &amp; Sustainability</a:t>
                      </a:r>
                    </a:p>
                  </a:txBody>
                  <a:tcPr marL="128016" marR="73152" marT="18288" marB="18288" anchor="ctr">
                    <a:solidFill>
                      <a:srgbClr val="11171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8DA39B"/>
                          </a:solidFill>
                          <a:latin typeface="Consolas"/>
                        </a:rPr>
                        <a:t>20</a:t>
                      </a:r>
                    </a:p>
                  </a:txBody>
                  <a:tcPr marL="128016" marR="73152" marT="18288" marB="18288" anchor="ctr">
                    <a:solidFill>
                      <a:srgbClr val="11171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8DA39B"/>
                          </a:solidFill>
                          <a:latin typeface="Consolas"/>
                        </a:rPr>
                        <a:t>offline queue · sync/purge · model swaps</a:t>
                      </a:r>
                    </a:p>
                  </a:txBody>
                  <a:tcPr marL="128016" marR="73152" marT="18288" marB="18288" anchor="ctr">
                    <a:solidFill>
                      <a:srgbClr val="111714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EAF3EF"/>
                          </a:solidFill>
                          <a:latin typeface="Segoe UI"/>
                        </a:rPr>
                        <a:t>Presentation &amp; Documentation</a:t>
                      </a:r>
                    </a:p>
                  </a:txBody>
                  <a:tcPr marL="128016" marR="73152" marT="18288" marB="18288" anchor="ctr">
                    <a:solidFill>
                      <a:srgbClr val="161D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8DA39B"/>
                          </a:solidFill>
                          <a:latin typeface="Consolas"/>
                        </a:rPr>
                        <a:t>20</a:t>
                      </a:r>
                    </a:p>
                  </a:txBody>
                  <a:tcPr marL="128016" marR="73152" marT="18288" marB="18288" anchor="ctr">
                    <a:solidFill>
                      <a:srgbClr val="161D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8DA39B"/>
                          </a:solidFill>
                          <a:latin typeface="Consolas"/>
                        </a:rPr>
                        <a:t>source clarity · integration guide · this deck</a:t>
                      </a:r>
                    </a:p>
                  </a:txBody>
                  <a:tcPr marL="128016" marR="73152" marT="18288" marB="18288" anchor="ctr">
                    <a:solidFill>
                      <a:srgbClr val="161D1A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822960" y="5458968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8DA39B"/>
                </a:solidFill>
                <a:latin typeface="Segoe UI"/>
              </a:rPr>
              <a:t>Open-source · lightweight · fully offline · ready for Datalake 3.0.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185855" y="6748272"/>
            <a:ext cx="1005840" cy="109728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2081967" y="5852160"/>
            <a:ext cx="109728" cy="100584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508760"/>
            <a:ext cx="73152" cy="310896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1536192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00E676"/>
                </a:solidFill>
                <a:latin typeface="Consolas"/>
              </a:rPr>
              <a:t>OFFLINE·ID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106070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>
                <a:solidFill>
                  <a:srgbClr val="EAF3EF"/>
                </a:solidFill>
                <a:latin typeface="Segoe UI"/>
              </a:rPr>
              <a:t>Authenticate anyone, anywhere,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>
                <a:solidFill>
                  <a:srgbClr val="EAF3EF"/>
                </a:solidFill>
                <a:latin typeface="Segoe UI"/>
              </a:rPr>
              <a:t>zero network required.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841248" y="3383280"/>
            <a:ext cx="1828800" cy="4572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65760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8DA39B"/>
                </a:solidFill>
                <a:latin typeface="Segoe UI"/>
              </a:rPr>
              <a:t>Secure · lightweight · fully offline face auth that plugs into Datalake 3.0.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61772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5C726A"/>
                </a:solidFill>
                <a:latin typeface="Consolas"/>
              </a:rPr>
              <a:t>Source    </a:t>
            </a:r>
            <a:r>
              <a:rPr sz="1300" b="0">
                <a:solidFill>
                  <a:srgbClr val="00E676"/>
                </a:solidFill>
                <a:latin typeface="Consolas"/>
              </a:rPr>
              <a:t>github.com/moneytosms/offlineid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5C726A"/>
                </a:solidFill>
                <a:latin typeface="Consolas"/>
              </a:rPr>
              <a:t>Release   </a:t>
            </a:r>
            <a:r>
              <a:rPr sz="1300" b="0">
                <a:solidFill>
                  <a:srgbClr val="00E676"/>
                </a:solidFill>
                <a:latin typeface="Consolas"/>
              </a:rPr>
              <a:t>github.com/moneytosms/offlineid/releases/tag/v1.0.0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8978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AF3EF"/>
                </a:solidFill>
                <a:latin typeface="Segoe UI"/>
              </a:rPr>
              <a:t>Thank you   ·   Q &amp;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